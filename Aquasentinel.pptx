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702" r:id="rId2"/>
    <p:sldMasterId id="2147483686" r:id="rId3"/>
  </p:sldMasterIdLst>
  <p:notesMasterIdLst>
    <p:notesMasterId r:id="rId19"/>
  </p:notesMasterIdLst>
  <p:handoutMasterIdLst>
    <p:handoutMasterId r:id="rId20"/>
  </p:handoutMasterIdLst>
  <p:sldIdLst>
    <p:sldId id="277" r:id="rId4"/>
    <p:sldId id="399" r:id="rId5"/>
    <p:sldId id="400" r:id="rId6"/>
    <p:sldId id="401" r:id="rId7"/>
    <p:sldId id="402" r:id="rId8"/>
    <p:sldId id="403" r:id="rId9"/>
    <p:sldId id="408" r:id="rId10"/>
    <p:sldId id="409" r:id="rId11"/>
    <p:sldId id="410" r:id="rId12"/>
    <p:sldId id="414" r:id="rId13"/>
    <p:sldId id="412" r:id="rId14"/>
    <p:sldId id="413" r:id="rId15"/>
    <p:sldId id="405" r:id="rId16"/>
    <p:sldId id="406" r:id="rId17"/>
    <p:sldId id="407"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man kumar" initials="S" lastIdx="1" clrIdx="0">
    <p:extLst>
      <p:ext uri="{19B8F6BF-5375-455C-9EA6-DF929625EA0E}">
        <p15:presenceInfo xmlns:p15="http://schemas.microsoft.com/office/powerpoint/2012/main" userId="S::22BIT70027@cuchd.in::89cfdcea-6e82-4db2-b6dc-a0298fbdda2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799" autoAdjust="0"/>
    <p:restoredTop sz="94660" autoAdjust="0"/>
  </p:normalViewPr>
  <p:slideViewPr>
    <p:cSldViewPr snapToGrid="0">
      <p:cViewPr varScale="1">
        <p:scale>
          <a:sx n="82" d="100"/>
          <a:sy n="82" d="100"/>
        </p:scale>
        <p:origin x="1142"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67" d="100"/>
          <a:sy n="67" d="100"/>
        </p:scale>
        <p:origin x="-3168" y="-77"/>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commentAuthors" Target="commen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11/6/2025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683537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image" Target="../media/image1.png"/><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hf hdr="0" ftr="0" dt="0"/>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6053794"/>
            <a:ext cx="12196420" cy="4391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695892" y="1850059"/>
            <a:ext cx="6829425" cy="2797237"/>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en-US" sz="2400" i="1" dirty="0">
                <a:solidFill>
                  <a:srgbClr val="000000"/>
                </a:solidFill>
                <a:latin typeface="Bradley Hand ITC" panose="03070402050302030203" pitchFamily="66" charset="0"/>
              </a:rPr>
              <a:t>Submitted in the partial fulfillment for the award of the degree of</a:t>
            </a:r>
          </a:p>
          <a:p>
            <a:pPr algn="ctr">
              <a:lnSpc>
                <a:spcPct val="150000"/>
              </a:lnSpc>
            </a:pPr>
            <a:r>
              <a:rPr lang="en-US" sz="2400" b="1" dirty="0">
                <a:solidFill>
                  <a:srgbClr val="000000"/>
                </a:solidFill>
                <a:latin typeface="Times New Roman" panose="02020603050405020304" pitchFamily="18" charset="0"/>
                <a:cs typeface="Times New Roman" panose="02020603050405020304" pitchFamily="18" charset="0"/>
              </a:rPr>
              <a:t>BACHELOR OF ENGINEERING </a:t>
            </a:r>
            <a:endParaRPr lang="en-US" sz="2400" dirty="0">
              <a:solidFill>
                <a:srgbClr val="000000"/>
              </a:solidFill>
              <a:latin typeface="Times New Roman" panose="02020603050405020304" pitchFamily="18" charset="0"/>
              <a:cs typeface="Times New Roman" panose="02020603050405020304" pitchFamily="18" charset="0"/>
            </a:endParaRPr>
          </a:p>
          <a:p>
            <a:pPr algn="ctr">
              <a:lnSpc>
                <a:spcPct val="150000"/>
              </a:lnSpc>
            </a:pPr>
            <a:r>
              <a:rPr lang="en-US" sz="2400" i="1" dirty="0">
                <a:solidFill>
                  <a:srgbClr val="000000"/>
                </a:solidFill>
                <a:latin typeface="Bradley Hand ITC" panose="03070402050302030203" pitchFamily="66" charset="0"/>
              </a:rPr>
              <a:t> IN</a:t>
            </a:r>
          </a:p>
          <a:p>
            <a:pPr algn="ctr">
              <a:lnSpc>
                <a:spcPct val="150000"/>
              </a:lnSpc>
            </a:pPr>
            <a:r>
              <a:rPr lang="en-US" sz="2400" i="1" dirty="0">
                <a:solidFill>
                  <a:srgbClr val="000000"/>
                </a:solidFill>
              </a:rPr>
              <a:t>COMPUTER SCIENCE ENGINEERING </a:t>
            </a:r>
            <a:br>
              <a:rPr lang="en-US" sz="2400" i="1" dirty="0">
                <a:solidFill>
                  <a:srgbClr val="000000"/>
                </a:solidFill>
              </a:rPr>
            </a:br>
            <a:r>
              <a:rPr lang="en-US" sz="2400" i="1" dirty="0">
                <a:solidFill>
                  <a:srgbClr val="000000"/>
                </a:solidFill>
              </a:rPr>
              <a:t>specialization in Internet Of Things</a:t>
            </a:r>
          </a:p>
          <a:p>
            <a:pPr algn="ctr">
              <a:lnSpc>
                <a:spcPct val="150000"/>
              </a:lnSpc>
            </a:pPr>
            <a:endParaRPr lang="en-US" sz="2400" i="1" dirty="0">
              <a:solidFill>
                <a:srgbClr val="000000"/>
              </a:solidFill>
            </a:endParaRPr>
          </a:p>
        </p:txBody>
      </p:sp>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5780" y="6356350"/>
            <a:ext cx="4928608"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509042" y="6356350"/>
            <a:ext cx="5882609"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400" b="1" dirty="0">
                <a:solidFill>
                  <a:srgbClr val="FF0000"/>
                </a:solidFill>
                <a:latin typeface="Times New Roman" pitchFamily="18" charset="0"/>
                <a:cs typeface="Times New Roman" pitchFamily="18" charset="0"/>
              </a:rPr>
              <a:t>Department of AIT-CSE</a:t>
            </a:r>
            <a:endParaRPr lang="en-US" sz="1600" dirty="0">
              <a:solidFill>
                <a:srgbClr val="FF0000"/>
              </a:solidFill>
              <a:latin typeface="Times New Roman" pitchFamily="18" charset="0"/>
              <a:cs typeface="Times New Roman" pitchFamily="18" charset="0"/>
            </a:endParaRPr>
          </a:p>
        </p:txBody>
      </p:sp>
      <p:sp>
        <p:nvSpPr>
          <p:cNvPr id="26" name="TextBox 25"/>
          <p:cNvSpPr txBox="1">
            <a:spLocks noChangeArrowheads="1"/>
          </p:cNvSpPr>
          <p:nvPr/>
        </p:nvSpPr>
        <p:spPr bwMode="auto">
          <a:xfrm>
            <a:off x="1761330" y="175200"/>
            <a:ext cx="8373270" cy="10772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3200" b="1" dirty="0">
                <a:latin typeface="Britannic Bold" panose="020B0903060703020204" pitchFamily="34" charset="0"/>
              </a:rPr>
              <a:t>AquaSentinel: A Cloud-Integrated AloT System for Water Quality and Level Monitoring</a:t>
            </a:r>
          </a:p>
        </p:txBody>
      </p:sp>
      <p:sp>
        <p:nvSpPr>
          <p:cNvPr id="15" name="Slide Number Placeholder 14"/>
          <p:cNvSpPr>
            <a:spLocks noGrp="1"/>
          </p:cNvSpPr>
          <p:nvPr>
            <p:ph type="sldNum" sz="quarter" idx="12"/>
          </p:nvPr>
        </p:nvSpPr>
        <p:spPr/>
        <p:txBody>
          <a:bodyPr/>
          <a:lstStyle/>
          <a:p>
            <a:fld id="{BDCDBBEF-AA6C-4BA6-85B2-A17D7F280E38}" type="slidenum">
              <a:rPr lang="en-US" smtClean="0"/>
              <a:pPr/>
              <a:t>1</a:t>
            </a:fld>
            <a:endParaRPr lang="en-US"/>
          </a:p>
        </p:txBody>
      </p:sp>
      <p:sp>
        <p:nvSpPr>
          <p:cNvPr id="5" name="TextBox 4"/>
          <p:cNvSpPr txBox="1"/>
          <p:nvPr/>
        </p:nvSpPr>
        <p:spPr>
          <a:xfrm>
            <a:off x="849716" y="4783050"/>
            <a:ext cx="2690160" cy="163121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Submitted by: </a:t>
            </a:r>
          </a:p>
          <a:p>
            <a:r>
              <a:rPr lang="en-US" sz="2000" dirty="0">
                <a:latin typeface="Times New Roman" panose="02020603050405020304" pitchFamily="18" charset="0"/>
                <a:cs typeface="Times New Roman" panose="02020603050405020304" pitchFamily="18" charset="0"/>
              </a:rPr>
              <a:t>Pranchal (22BIT70002)</a:t>
            </a:r>
          </a:p>
          <a:p>
            <a:r>
              <a:rPr lang="en-US" sz="2000" dirty="0">
                <a:latin typeface="Times New Roman" panose="02020603050405020304" pitchFamily="18" charset="0"/>
                <a:cs typeface="Times New Roman" panose="02020603050405020304" pitchFamily="18" charset="0"/>
              </a:rPr>
              <a:t>Ayush (22BIT70024)</a:t>
            </a:r>
          </a:p>
          <a:p>
            <a:r>
              <a:rPr lang="en-US" sz="2000" dirty="0">
                <a:latin typeface="Times New Roman" panose="02020603050405020304" pitchFamily="18" charset="0"/>
                <a:cs typeface="Times New Roman" panose="02020603050405020304" pitchFamily="18" charset="0"/>
              </a:rPr>
              <a:t>Suman (22BIT70027)</a:t>
            </a:r>
          </a:p>
          <a:p>
            <a:r>
              <a:rPr lang="en-US" sz="2000" dirty="0">
                <a:latin typeface="Times New Roman" panose="02020603050405020304" pitchFamily="18" charset="0"/>
                <a:cs typeface="Times New Roman" panose="02020603050405020304" pitchFamily="18" charset="0"/>
              </a:rPr>
              <a:t>Aryan (22BIT70067)</a:t>
            </a:r>
          </a:p>
        </p:txBody>
      </p:sp>
      <p:sp>
        <p:nvSpPr>
          <p:cNvPr id="6" name="TextBox 5"/>
          <p:cNvSpPr txBox="1"/>
          <p:nvPr/>
        </p:nvSpPr>
        <p:spPr>
          <a:xfrm>
            <a:off x="7982917" y="5244937"/>
            <a:ext cx="3443122" cy="707886"/>
          </a:xfrm>
          <a:prstGeom prst="rect">
            <a:avLst/>
          </a:prstGeom>
          <a:noFill/>
        </p:spPr>
        <p:txBody>
          <a:bodyPr wrap="none" rtlCol="0">
            <a:spAutoFit/>
          </a:bodyPr>
          <a:lstStyle/>
          <a:p>
            <a:r>
              <a:rPr lang="en-US" sz="2000" b="1" dirty="0">
                <a:latin typeface="Times New Roman" panose="02020603050405020304" pitchFamily="18" charset="0"/>
                <a:cs typeface="Times New Roman" panose="02020603050405020304" pitchFamily="18" charset="0"/>
              </a:rPr>
              <a:t>Under the Supervision of: </a:t>
            </a:r>
            <a:br>
              <a:rPr lang="en-US" sz="2000" b="1" dirty="0">
                <a:latin typeface="Times New Roman" panose="02020603050405020304" pitchFamily="18" charset="0"/>
                <a:cs typeface="Times New Roman" panose="02020603050405020304" pitchFamily="18" charset="0"/>
              </a:rPr>
            </a:br>
            <a:r>
              <a:rPr lang="en-US" sz="2000" b="1" dirty="0">
                <a:latin typeface="Times New Roman" panose="02020603050405020304" pitchFamily="18" charset="0"/>
                <a:cs typeface="Times New Roman" panose="02020603050405020304" pitchFamily="18" charset="0"/>
              </a:rPr>
              <a:t>Er. Abhishek Tiwari (E15792)</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5676" y="365126"/>
            <a:ext cx="10515600" cy="976206"/>
          </a:xfrm>
        </p:spPr>
        <p:txBody>
          <a:bodyPr/>
          <a:lstStyle/>
          <a:p>
            <a:pPr algn="ctr"/>
            <a:r>
              <a:rPr lang="en-US" b="1" dirty="0">
                <a:latin typeface="Times New Roman"/>
                <a:cs typeface="Times New Roman"/>
              </a:rPr>
              <a:t>Outline</a:t>
            </a:r>
          </a:p>
        </p:txBody>
      </p:sp>
      <p:sp>
        <p:nvSpPr>
          <p:cNvPr id="3" name="Content Placeholder 2"/>
          <p:cNvSpPr>
            <a:spLocks noGrp="1"/>
          </p:cNvSpPr>
          <p:nvPr>
            <p:ph idx="1"/>
          </p:nvPr>
        </p:nvSpPr>
        <p:spPr>
          <a:xfrm>
            <a:off x="838200" y="1588220"/>
            <a:ext cx="10515600" cy="4952253"/>
          </a:xfrm>
        </p:spPr>
        <p:txBody>
          <a:bodyPr>
            <a:normAutofit/>
          </a:bodyPr>
          <a:lstStyle/>
          <a:p>
            <a:r>
              <a:rPr lang="en-US" sz="2400" dirty="0">
                <a:latin typeface="Times New Roman" panose="02020603050405020304" pitchFamily="18" charset="0"/>
                <a:cs typeface="Times New Roman" panose="02020603050405020304" pitchFamily="18" charset="0"/>
              </a:rPr>
              <a:t>Introduction to Project</a:t>
            </a:r>
          </a:p>
          <a:p>
            <a:r>
              <a:rPr lang="en-US" sz="2400" dirty="0">
                <a:latin typeface="Times New Roman" panose="02020603050405020304" pitchFamily="18" charset="0"/>
                <a:cs typeface="Times New Roman" panose="02020603050405020304" pitchFamily="18" charset="0"/>
              </a:rPr>
              <a:t>Problem Formulation</a:t>
            </a:r>
          </a:p>
          <a:p>
            <a:r>
              <a:rPr lang="en-US" sz="2400" dirty="0">
                <a:latin typeface="Times New Roman" panose="02020603050405020304" pitchFamily="18" charset="0"/>
                <a:cs typeface="Times New Roman" panose="02020603050405020304" pitchFamily="18" charset="0"/>
              </a:rPr>
              <a:t>Objectives of the work</a:t>
            </a:r>
          </a:p>
          <a:p>
            <a:r>
              <a:rPr lang="en-US" sz="2400" dirty="0">
                <a:latin typeface="Times New Roman" panose="02020603050405020304" pitchFamily="18" charset="0"/>
                <a:cs typeface="Times New Roman" panose="02020603050405020304" pitchFamily="18" charset="0"/>
              </a:rPr>
              <a:t>Hardware  requirement </a:t>
            </a:r>
          </a:p>
          <a:p>
            <a:r>
              <a:rPr lang="en-US" sz="2400" dirty="0">
                <a:latin typeface="Times New Roman" panose="02020603050405020304" pitchFamily="18" charset="0"/>
                <a:cs typeface="Times New Roman" panose="02020603050405020304" pitchFamily="18" charset="0"/>
              </a:rPr>
              <a:t>Methodology to be used</a:t>
            </a:r>
          </a:p>
          <a:p>
            <a:r>
              <a:rPr lang="en-IN" sz="2400" dirty="0">
                <a:latin typeface="Times New Roman" panose="02020603050405020304" pitchFamily="18" charset="0"/>
                <a:cs typeface="Times New Roman" panose="02020603050405020304" pitchFamily="18" charset="0"/>
              </a:rPr>
              <a:t>Literature Review </a:t>
            </a:r>
            <a:endParaRPr lang="en-US" sz="2400" dirty="0">
              <a:latin typeface="Times New Roman" panose="02020603050405020304" pitchFamily="18" charset="0"/>
              <a:cs typeface="Times New Roman" panose="02020603050405020304" pitchFamily="18" charset="0"/>
            </a:endParaRPr>
          </a:p>
          <a:p>
            <a:r>
              <a:rPr lang="en-US" sz="2400" spc="-10" dirty="0">
                <a:latin typeface="Times New Roman" panose="02020603050405020304" pitchFamily="18" charset="0"/>
                <a:cs typeface="Times New Roman" panose="02020603050405020304" pitchFamily="18" charset="0"/>
              </a:rPr>
              <a:t>Conclusion</a:t>
            </a:r>
          </a:p>
          <a:p>
            <a:r>
              <a:rPr lang="en-US" sz="2400" dirty="0">
                <a:latin typeface="Times New Roman" panose="02020603050405020304" pitchFamily="18" charset="0"/>
                <a:cs typeface="Times New Roman" panose="02020603050405020304" pitchFamily="18" charset="0"/>
              </a:rPr>
              <a:t>Future Scope</a:t>
            </a:r>
          </a:p>
          <a:p>
            <a:r>
              <a:rPr lang="en-US" sz="2400" dirty="0">
                <a:latin typeface="Times New Roman" panose="02020603050405020304" pitchFamily="18" charset="0"/>
                <a:cs typeface="Times New Roman" panose="02020603050405020304" pitchFamily="18" charset="0"/>
              </a:rPr>
              <a:t>References</a:t>
            </a:r>
          </a:p>
          <a:p>
            <a:endParaRPr lang="en-US" dirty="0"/>
          </a:p>
          <a:p>
            <a:endParaRPr lang="en-US" dirty="0"/>
          </a:p>
        </p:txBody>
      </p:sp>
      <p:sp>
        <p:nvSpPr>
          <p:cNvPr id="4" name="Slide Number Placeholder 3"/>
          <p:cNvSpPr>
            <a:spLocks noGrp="1"/>
          </p:cNvSpPr>
          <p:nvPr>
            <p:ph type="sldNum" sz="quarter" idx="12"/>
          </p:nvPr>
        </p:nvSpPr>
        <p:spPr/>
        <p:txBody>
          <a:bodyPr/>
          <a:lstStyle/>
          <a:p>
            <a:fld id="{BDCDBBEF-AA6C-4BA6-85B2-A17D7F280E38}" type="slidenum">
              <a:rPr lang="en-US" smtClean="0"/>
              <a:pPr/>
              <a:t>2</a:t>
            </a:fld>
            <a:endParaRPr lang="en-US"/>
          </a:p>
        </p:txBody>
      </p:sp>
    </p:spTree>
    <p:extLst>
      <p:ext uri="{BB962C8B-B14F-4D97-AF65-F5344CB8AC3E}">
        <p14:creationId xmlns:p14="http://schemas.microsoft.com/office/powerpoint/2010/main" val="26059825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3197"/>
            <a:ext cx="10515600" cy="945807"/>
          </a:xfrm>
        </p:spPr>
        <p:txBody>
          <a:bodyPr/>
          <a:lstStyle/>
          <a:p>
            <a:pPr algn="ctr"/>
            <a:r>
              <a:rPr lang="en-US" b="1" dirty="0">
                <a:latin typeface="Times New Roman" panose="02020603050405020304" pitchFamily="18" charset="0"/>
                <a:cs typeface="Times New Roman" panose="02020603050405020304" pitchFamily="18" charset="0"/>
              </a:rPr>
              <a:t>Introduction to </a:t>
            </a:r>
            <a:r>
              <a:rPr lang="en-US" b="1" dirty="0" err="1">
                <a:latin typeface="Times New Roman" panose="02020603050405020304" pitchFamily="18" charset="0"/>
                <a:cs typeface="Times New Roman" panose="02020603050405020304" pitchFamily="18" charset="0"/>
              </a:rPr>
              <a:t>Aquasentinel</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0330" y="1231641"/>
            <a:ext cx="11411339" cy="5489834"/>
          </a:xfrm>
        </p:spPr>
        <p:txBody>
          <a:bodyPr>
            <a:normAutofit/>
          </a:bodyPr>
          <a:lstStyle/>
          <a:p>
            <a:pPr marL="0" indent="0" algn="just">
              <a:buNone/>
            </a:pPr>
            <a:r>
              <a:rPr lang="en-US" sz="2600" dirty="0">
                <a:latin typeface="Times New Roman" panose="02020603050405020304" pitchFamily="18" charset="0"/>
                <a:cs typeface="Times New Roman" panose="02020603050405020304" pitchFamily="18" charset="0"/>
              </a:rPr>
              <a:t>AquaSentinel is an Artificial Intelligence of Things (AIoT) cloud-controlled system designed for continuous monitoring of water quality and water levels.​</a:t>
            </a:r>
          </a:p>
          <a:p>
            <a:pPr marL="0" indent="0" algn="just">
              <a:buNone/>
            </a:pPr>
            <a:r>
              <a:rPr lang="en-US" sz="2600" b="1" dirty="0">
                <a:latin typeface="Times New Roman" panose="02020603050405020304" pitchFamily="18" charset="0"/>
                <a:cs typeface="Times New Roman" panose="02020603050405020304" pitchFamily="18" charset="0"/>
              </a:rPr>
              <a:t>Global Water Crisis:</a:t>
            </a:r>
          </a:p>
          <a:p>
            <a:pPr lvl="1" algn="just"/>
            <a:r>
              <a:rPr lang="en-US" sz="2600" dirty="0">
                <a:latin typeface="Times New Roman" panose="02020603050405020304" pitchFamily="18" charset="0"/>
                <a:cs typeface="Times New Roman" panose="02020603050405020304" pitchFamily="18" charset="0"/>
              </a:rPr>
              <a:t>Over 2 billion people worldwide lack access to safe water​</a:t>
            </a:r>
          </a:p>
          <a:p>
            <a:pPr lvl="1" algn="just"/>
            <a:r>
              <a:rPr lang="en-US" sz="2600" dirty="0">
                <a:latin typeface="Times New Roman" panose="02020603050405020304" pitchFamily="18" charset="0"/>
                <a:cs typeface="Times New Roman" panose="02020603050405020304" pitchFamily="18" charset="0"/>
              </a:rPr>
              <a:t>Water contamination from industrial and agricultural activities is worsening​</a:t>
            </a:r>
          </a:p>
          <a:p>
            <a:pPr lvl="1" algn="just"/>
            <a:r>
              <a:rPr lang="en-US" sz="2600" dirty="0">
                <a:latin typeface="Times New Roman" panose="02020603050405020304" pitchFamily="18" charset="0"/>
                <a:cs typeface="Times New Roman" panose="02020603050405020304" pitchFamily="18" charset="0"/>
              </a:rPr>
              <a:t>Floods, scarcity, and pollution endanger ecology, human health, and development​</a:t>
            </a:r>
          </a:p>
          <a:p>
            <a:pPr marL="0" indent="0" algn="just">
              <a:buNone/>
            </a:pPr>
            <a:r>
              <a:rPr lang="en-US" sz="2600" b="1" dirty="0">
                <a:latin typeface="Times New Roman" panose="02020603050405020304" pitchFamily="18" charset="0"/>
                <a:cs typeface="Times New Roman" panose="02020603050405020304" pitchFamily="18" charset="0"/>
              </a:rPr>
              <a:t>Why AquaSentinel?</a:t>
            </a:r>
          </a:p>
          <a:p>
            <a:pPr lvl="1" algn="just"/>
            <a:r>
              <a:rPr lang="en-US" sz="2600" dirty="0">
                <a:latin typeface="Times New Roman" panose="02020603050405020304" pitchFamily="18" charset="0"/>
                <a:cs typeface="Times New Roman" panose="02020603050405020304" pitchFamily="18" charset="0"/>
              </a:rPr>
              <a:t>Traditional manual sampling and laboratory testing are time-consuming and inefficient​</a:t>
            </a:r>
          </a:p>
          <a:p>
            <a:pPr lvl="1" algn="just"/>
            <a:r>
              <a:rPr lang="en-US" sz="2600" dirty="0">
                <a:latin typeface="Times New Roman" panose="02020603050405020304" pitchFamily="18" charset="0"/>
                <a:cs typeface="Times New Roman" panose="02020603050405020304" pitchFamily="18" charset="0"/>
              </a:rPr>
              <a:t>Cannot provide 24/7 intelligent surveillance needed for timely responses​</a:t>
            </a:r>
          </a:p>
          <a:p>
            <a:pPr lvl="1" algn="just"/>
            <a:r>
              <a:rPr lang="en-US" sz="2600" dirty="0">
                <a:latin typeface="Times New Roman" panose="02020603050405020304" pitchFamily="18" charset="0"/>
                <a:cs typeface="Times New Roman" panose="02020603050405020304" pitchFamily="18" charset="0"/>
              </a:rPr>
              <a:t>Real-time monitoring is essential for proactive water resource management</a:t>
            </a:r>
          </a:p>
          <a:p>
            <a:pPr algn="just"/>
            <a:endParaRPr lang="en-US" sz="2600" b="0" i="0" dirty="0">
              <a:effectLst/>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3</a:t>
            </a:fld>
            <a:endParaRPr lang="en-US"/>
          </a:p>
        </p:txBody>
      </p:sp>
    </p:spTree>
    <p:extLst>
      <p:ext uri="{BB962C8B-B14F-4D97-AF65-F5344CB8AC3E}">
        <p14:creationId xmlns:p14="http://schemas.microsoft.com/office/powerpoint/2010/main" val="3401012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983148"/>
          </a:xfrm>
        </p:spPr>
        <p:txBody>
          <a:bodyPr/>
          <a:lstStyle/>
          <a:p>
            <a:pPr algn="ctr"/>
            <a:r>
              <a:rPr lang="en-US" b="1" dirty="0">
                <a:latin typeface="Times New Roman" panose="02020603050405020304" pitchFamily="18" charset="0"/>
                <a:cs typeface="Times New Roman" panose="02020603050405020304" pitchFamily="18" charset="0"/>
              </a:rPr>
              <a:t>Problem Formulation</a:t>
            </a:r>
          </a:p>
        </p:txBody>
      </p:sp>
      <p:sp>
        <p:nvSpPr>
          <p:cNvPr id="3" name="Content Placeholder 2"/>
          <p:cNvSpPr>
            <a:spLocks noGrp="1"/>
          </p:cNvSpPr>
          <p:nvPr>
            <p:ph idx="1"/>
          </p:nvPr>
        </p:nvSpPr>
        <p:spPr>
          <a:xfrm>
            <a:off x="447869" y="1362270"/>
            <a:ext cx="10905931" cy="4637314"/>
          </a:xfrm>
        </p:spPr>
        <p:txBody>
          <a:bodyPr>
            <a:normAutofit/>
          </a:bodyPr>
          <a:lstStyle/>
          <a:p>
            <a:pPr marL="0" indent="0" algn="just">
              <a:buNone/>
            </a:pPr>
            <a:r>
              <a:rPr lang="en-US" sz="2600" dirty="0">
                <a:latin typeface="Times New Roman" panose="02020603050405020304" pitchFamily="18" charset="0"/>
                <a:cs typeface="Times New Roman" panose="02020603050405020304" pitchFamily="18" charset="0"/>
              </a:rPr>
              <a:t>Challenges in Traditional Water Monitoring:​</a:t>
            </a:r>
          </a:p>
          <a:p>
            <a:pPr lvl="1" algn="just"/>
            <a:r>
              <a:rPr lang="en-US" sz="2600" b="1" dirty="0">
                <a:latin typeface="Times New Roman" panose="02020603050405020304" pitchFamily="18" charset="0"/>
                <a:cs typeface="Times New Roman" panose="02020603050405020304" pitchFamily="18" charset="0"/>
              </a:rPr>
              <a:t>Manual Sampling Limitations: </a:t>
            </a:r>
            <a:r>
              <a:rPr lang="en-US" sz="2600" dirty="0">
                <a:latin typeface="Times New Roman" panose="02020603050405020304" pitchFamily="18" charset="0"/>
                <a:cs typeface="Times New Roman" panose="02020603050405020304" pitchFamily="18" charset="0"/>
              </a:rPr>
              <a:t>Labor-intensive, cumbersome processes that cannot deliver real-time data​</a:t>
            </a:r>
          </a:p>
          <a:p>
            <a:pPr lvl="1" algn="just"/>
            <a:r>
              <a:rPr lang="en-US" sz="2600" b="1" dirty="0">
                <a:latin typeface="Times New Roman" panose="02020603050405020304" pitchFamily="18" charset="0"/>
                <a:cs typeface="Times New Roman" panose="02020603050405020304" pitchFamily="18" charset="0"/>
              </a:rPr>
              <a:t>Delayed Response: </a:t>
            </a:r>
            <a:r>
              <a:rPr lang="en-US" sz="2600" dirty="0">
                <a:latin typeface="Times New Roman" panose="02020603050405020304" pitchFamily="18" charset="0"/>
                <a:cs typeface="Times New Roman" panose="02020603050405020304" pitchFamily="18" charset="0"/>
              </a:rPr>
              <a:t>Laboratory-based detection methods fail to provide timely alerts for contamination events​</a:t>
            </a:r>
          </a:p>
          <a:p>
            <a:pPr lvl="1" algn="just"/>
            <a:r>
              <a:rPr lang="en-US" sz="2600" b="1" dirty="0">
                <a:latin typeface="Times New Roman" panose="02020603050405020304" pitchFamily="18" charset="0"/>
                <a:cs typeface="Times New Roman" panose="02020603050405020304" pitchFamily="18" charset="0"/>
              </a:rPr>
              <a:t>Scalability Issues: </a:t>
            </a:r>
            <a:r>
              <a:rPr lang="en-US" sz="2600" dirty="0">
                <a:latin typeface="Times New Roman" panose="02020603050405020304" pitchFamily="18" charset="0"/>
                <a:cs typeface="Times New Roman" panose="02020603050405020304" pitchFamily="18" charset="0"/>
              </a:rPr>
              <a:t>Existing IoT systems suffer from latency, poor connectivity, and limited deployment capabilities​</a:t>
            </a:r>
          </a:p>
          <a:p>
            <a:pPr lvl="1" algn="just"/>
            <a:r>
              <a:rPr lang="en-US" sz="2600" b="1" dirty="0">
                <a:latin typeface="Times New Roman" panose="02020603050405020304" pitchFamily="18" charset="0"/>
                <a:cs typeface="Times New Roman" panose="02020603050405020304" pitchFamily="18" charset="0"/>
              </a:rPr>
              <a:t>Lack of Intelligence: </a:t>
            </a:r>
            <a:r>
              <a:rPr lang="en-US" sz="2600" dirty="0">
                <a:latin typeface="Times New Roman" panose="02020603050405020304" pitchFamily="18" charset="0"/>
                <a:cs typeface="Times New Roman" panose="02020603050405020304" pitchFamily="18" charset="0"/>
              </a:rPr>
              <a:t>Most systems only focus on data storage and visualization without predictive analytics​</a:t>
            </a:r>
          </a:p>
          <a:p>
            <a:pPr lvl="1" algn="just"/>
            <a:r>
              <a:rPr lang="en-US" sz="2600" b="1" dirty="0">
                <a:latin typeface="Times New Roman" panose="02020603050405020304" pitchFamily="18" charset="0"/>
                <a:cs typeface="Times New Roman" panose="02020603050405020304" pitchFamily="18" charset="0"/>
              </a:rPr>
              <a:t>Fragmented Solutions: </a:t>
            </a:r>
            <a:r>
              <a:rPr lang="en-US" sz="2600" dirty="0">
                <a:latin typeface="Times New Roman" panose="02020603050405020304" pitchFamily="18" charset="0"/>
                <a:cs typeface="Times New Roman" panose="02020603050405020304" pitchFamily="18" charset="0"/>
              </a:rPr>
              <a:t>IoT, cloud computing, and AI technologies exist separately rather than as integrated solutions</a:t>
            </a:r>
          </a:p>
          <a:p>
            <a:pPr algn="just"/>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409303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1020471"/>
          </a:xfrm>
        </p:spPr>
        <p:txBody>
          <a:bodyPr/>
          <a:lstStyle/>
          <a:p>
            <a:pPr algn="ctr"/>
            <a:r>
              <a:rPr lang="en-US" b="1" dirty="0">
                <a:latin typeface="Times New Roman" panose="02020603050405020304" pitchFamily="18" charset="0"/>
                <a:cs typeface="Times New Roman" panose="02020603050405020304" pitchFamily="18" charset="0"/>
              </a:rPr>
              <a:t>Objectives of the Work</a:t>
            </a:r>
          </a:p>
        </p:txBody>
      </p:sp>
      <p:sp>
        <p:nvSpPr>
          <p:cNvPr id="3" name="Content Placeholder 2"/>
          <p:cNvSpPr>
            <a:spLocks noGrp="1"/>
          </p:cNvSpPr>
          <p:nvPr>
            <p:ph idx="1"/>
          </p:nvPr>
        </p:nvSpPr>
        <p:spPr>
          <a:xfrm>
            <a:off x="438539" y="1306286"/>
            <a:ext cx="10915261" cy="5261567"/>
          </a:xfrm>
        </p:spPr>
        <p:txBody>
          <a:bodyPr>
            <a:normAutofit/>
          </a:bodyPr>
          <a:lstStyle/>
          <a:p>
            <a:pPr marL="514350" indent="-514350" algn="just">
              <a:buFont typeface="+mj-lt"/>
              <a:buAutoNum type="arabicPeriod"/>
            </a:pPr>
            <a:r>
              <a:rPr lang="en-US" sz="2600" b="1" dirty="0">
                <a:latin typeface="Times New Roman" panose="02020603050405020304" pitchFamily="18" charset="0"/>
                <a:cs typeface="Times New Roman" panose="02020603050405020304" pitchFamily="18" charset="0"/>
              </a:rPr>
              <a:t>Real-time Monitoring: </a:t>
            </a:r>
            <a:r>
              <a:rPr lang="en-US" sz="2600" dirty="0">
                <a:latin typeface="Times New Roman" panose="02020603050405020304" pitchFamily="18" charset="0"/>
                <a:cs typeface="Times New Roman" panose="02020603050405020304" pitchFamily="18" charset="0"/>
              </a:rPr>
              <a:t>Monitor critical water parameters (pH, turbidity, temperature, dissolved oxygen, water levels) continuously​</a:t>
            </a:r>
          </a:p>
          <a:p>
            <a:pPr marL="514350" indent="-514350" algn="just">
              <a:buFont typeface="+mj-lt"/>
              <a:buAutoNum type="arabicPeriod"/>
            </a:pPr>
            <a:r>
              <a:rPr lang="en-US" sz="2600" b="1" dirty="0">
                <a:latin typeface="Times New Roman" panose="02020603050405020304" pitchFamily="18" charset="0"/>
                <a:cs typeface="Times New Roman" panose="02020603050405020304" pitchFamily="18" charset="0"/>
              </a:rPr>
              <a:t>Cloud Integration: </a:t>
            </a:r>
            <a:r>
              <a:rPr lang="en-US" sz="2600" dirty="0">
                <a:latin typeface="Times New Roman" panose="02020603050405020304" pitchFamily="18" charset="0"/>
                <a:cs typeface="Times New Roman" panose="02020603050405020304" pitchFamily="18" charset="0"/>
              </a:rPr>
              <a:t>Enable secure data storage, large-scale analytics, and remote accessibility​</a:t>
            </a:r>
          </a:p>
          <a:p>
            <a:pPr marL="514350" indent="-514350" algn="just">
              <a:buFont typeface="+mj-lt"/>
              <a:buAutoNum type="arabicPeriod"/>
            </a:pPr>
            <a:r>
              <a:rPr lang="en-US" sz="2600" b="1" dirty="0">
                <a:latin typeface="Times New Roman" panose="02020603050405020304" pitchFamily="18" charset="0"/>
                <a:cs typeface="Times New Roman" panose="02020603050405020304" pitchFamily="18" charset="0"/>
              </a:rPr>
              <a:t>AI-Driven Intelligence: </a:t>
            </a:r>
            <a:r>
              <a:rPr lang="en-US" sz="2600" dirty="0">
                <a:latin typeface="Times New Roman" panose="02020603050405020304" pitchFamily="18" charset="0"/>
                <a:cs typeface="Times New Roman" panose="02020603050405020304" pitchFamily="18" charset="0"/>
              </a:rPr>
              <a:t>Implement machine learning algorithms for anomaly detection and predictive maintenance​</a:t>
            </a:r>
          </a:p>
          <a:p>
            <a:pPr marL="514350" indent="-514350" algn="just">
              <a:buFont typeface="+mj-lt"/>
              <a:buAutoNum type="arabicPeriod"/>
            </a:pPr>
            <a:r>
              <a:rPr lang="en-US" sz="2600" b="1" dirty="0">
                <a:latin typeface="Times New Roman" panose="02020603050405020304" pitchFamily="18" charset="0"/>
                <a:cs typeface="Times New Roman" panose="02020603050405020304" pitchFamily="18" charset="0"/>
              </a:rPr>
              <a:t>Scalable Architecture: </a:t>
            </a:r>
            <a:r>
              <a:rPr lang="en-US" sz="2600" dirty="0">
                <a:latin typeface="Times New Roman" panose="02020603050405020304" pitchFamily="18" charset="0"/>
                <a:cs typeface="Times New Roman" panose="02020603050405020304" pitchFamily="18" charset="0"/>
              </a:rPr>
              <a:t>Create an AIoT-ready system that can be deployed across different water bodies​</a:t>
            </a:r>
          </a:p>
          <a:p>
            <a:pPr marL="514350" indent="-514350" algn="just">
              <a:buFont typeface="+mj-lt"/>
              <a:buAutoNum type="arabicPeriod"/>
            </a:pPr>
            <a:r>
              <a:rPr lang="en-US" sz="2600" b="1" dirty="0">
                <a:latin typeface="Times New Roman" panose="02020603050405020304" pitchFamily="18" charset="0"/>
                <a:cs typeface="Times New Roman" panose="02020603050405020304" pitchFamily="18" charset="0"/>
              </a:rPr>
              <a:t>Interactive Dashboard: </a:t>
            </a:r>
            <a:r>
              <a:rPr lang="en-US" sz="2600" dirty="0">
                <a:latin typeface="Times New Roman" panose="02020603050405020304" pitchFamily="18" charset="0"/>
                <a:cs typeface="Times New Roman" panose="02020603050405020304" pitchFamily="18" charset="0"/>
              </a:rPr>
              <a:t>Develop visualization tools with real-time notifications for stakeholders​</a:t>
            </a:r>
          </a:p>
          <a:p>
            <a:pPr marL="514350" indent="-514350" algn="just">
              <a:buFont typeface="+mj-lt"/>
              <a:buAutoNum type="arabicPeriod"/>
            </a:pPr>
            <a:r>
              <a:rPr lang="en-US" sz="2600" b="1" dirty="0">
                <a:latin typeface="Times New Roman" panose="02020603050405020304" pitchFamily="18" charset="0"/>
                <a:cs typeface="Times New Roman" panose="02020603050405020304" pitchFamily="18" charset="0"/>
              </a:rPr>
              <a:t>Proactive Solution: </a:t>
            </a:r>
            <a:r>
              <a:rPr lang="en-US" sz="2600" dirty="0">
                <a:latin typeface="Times New Roman" panose="02020603050405020304" pitchFamily="18" charset="0"/>
                <a:cs typeface="Times New Roman" panose="02020603050405020304" pitchFamily="18" charset="0"/>
              </a:rPr>
              <a:t>Predict contamination events and enable timely interventions</a:t>
            </a:r>
          </a:p>
          <a:p>
            <a:pPr marL="0" indent="0" algn="just">
              <a:buNone/>
            </a:pPr>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5</a:t>
            </a:fld>
            <a:endParaRPr lang="en-US"/>
          </a:p>
        </p:txBody>
      </p:sp>
    </p:spTree>
    <p:extLst>
      <p:ext uri="{BB962C8B-B14F-4D97-AF65-F5344CB8AC3E}">
        <p14:creationId xmlns:p14="http://schemas.microsoft.com/office/powerpoint/2010/main" val="474965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92479"/>
          </a:xfrm>
        </p:spPr>
        <p:txBody>
          <a:bodyPr/>
          <a:lstStyle/>
          <a:p>
            <a:pPr algn="ctr"/>
            <a:r>
              <a:rPr lang="en-US" b="1" dirty="0">
                <a:latin typeface="Times New Roman" panose="02020603050405020304" pitchFamily="18" charset="0"/>
                <a:cs typeface="Times New Roman" panose="02020603050405020304" pitchFamily="18" charset="0"/>
              </a:rPr>
              <a:t>Hardware requirement</a:t>
            </a:r>
          </a:p>
        </p:txBody>
      </p:sp>
      <p:sp>
        <p:nvSpPr>
          <p:cNvPr id="3" name="Content Placeholder 2"/>
          <p:cNvSpPr>
            <a:spLocks noGrp="1"/>
          </p:cNvSpPr>
          <p:nvPr>
            <p:ph idx="1"/>
          </p:nvPr>
        </p:nvSpPr>
        <p:spPr>
          <a:xfrm>
            <a:off x="502298" y="1258513"/>
            <a:ext cx="10515600" cy="2170487"/>
          </a:xfrm>
        </p:spPr>
        <p:txBody>
          <a:bodyPr>
            <a:normAutofit/>
          </a:bodyPr>
          <a:lstStyle/>
          <a:p>
            <a:pPr marL="0" indent="0">
              <a:buNone/>
            </a:pPr>
            <a:r>
              <a:rPr lang="en-IN" sz="3600" dirty="0">
                <a:latin typeface="Times New Roman" panose="02020603050405020304" pitchFamily="18" charset="0"/>
                <a:cs typeface="Times New Roman" panose="02020603050405020304" pitchFamily="18" charset="0"/>
              </a:rPr>
              <a:t>Sensors:​</a:t>
            </a:r>
          </a:p>
          <a:p>
            <a:r>
              <a:rPr lang="en-IN" sz="2600" dirty="0">
                <a:latin typeface="Times New Roman" panose="02020603050405020304" pitchFamily="18" charset="0"/>
                <a:cs typeface="Times New Roman" panose="02020603050405020304" pitchFamily="18" charset="0"/>
              </a:rPr>
              <a:t>pH Sensor: Measures water acidity/alkalinity</a:t>
            </a:r>
          </a:p>
          <a:p>
            <a:r>
              <a:rPr lang="en-IN" sz="2600" dirty="0">
                <a:latin typeface="Times New Roman" panose="02020603050405020304" pitchFamily="18" charset="0"/>
                <a:cs typeface="Times New Roman" panose="02020603050405020304" pitchFamily="18" charset="0"/>
              </a:rPr>
              <a:t>Turbidity Sensor: Detects suspended particles and water clarity</a:t>
            </a:r>
          </a:p>
          <a:p>
            <a:r>
              <a:rPr lang="en-IN" sz="2600" dirty="0">
                <a:latin typeface="Times New Roman" panose="02020603050405020304" pitchFamily="18" charset="0"/>
                <a:cs typeface="Times New Roman" panose="02020603050405020304" pitchFamily="18" charset="0"/>
              </a:rPr>
              <a:t>Temperature Sensor (DS18B20/LM35): Monitors thermal fluctuations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6</a:t>
            </a:fld>
            <a:endParaRPr lang="en-US"/>
          </a:p>
        </p:txBody>
      </p:sp>
      <p:pic>
        <p:nvPicPr>
          <p:cNvPr id="7" name="Picture 6">
            <a:extLst>
              <a:ext uri="{FF2B5EF4-FFF2-40B4-BE49-F238E27FC236}">
                <a16:creationId xmlns:a16="http://schemas.microsoft.com/office/drawing/2014/main" id="{DB04D196-4A41-6CDE-812E-77CEC15EFA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0715" y="3891067"/>
            <a:ext cx="3453882" cy="2280617"/>
          </a:xfrm>
          <a:prstGeom prst="rect">
            <a:avLst/>
          </a:prstGeom>
        </p:spPr>
      </p:pic>
      <p:pic>
        <p:nvPicPr>
          <p:cNvPr id="9" name="Picture 8">
            <a:extLst>
              <a:ext uri="{FF2B5EF4-FFF2-40B4-BE49-F238E27FC236}">
                <a16:creationId xmlns:a16="http://schemas.microsoft.com/office/drawing/2014/main" id="{07440CE8-E464-E879-ACDF-A376F4C6D6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7403" y="3848102"/>
            <a:ext cx="2280617" cy="2280617"/>
          </a:xfrm>
          <a:prstGeom prst="rect">
            <a:avLst/>
          </a:prstGeom>
        </p:spPr>
      </p:pic>
      <p:pic>
        <p:nvPicPr>
          <p:cNvPr id="13" name="Picture 12">
            <a:extLst>
              <a:ext uri="{FF2B5EF4-FFF2-40B4-BE49-F238E27FC236}">
                <a16:creationId xmlns:a16="http://schemas.microsoft.com/office/drawing/2014/main" id="{339DC8CC-4221-DFFD-CF9A-25F7F53A01A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7728" y="3848102"/>
            <a:ext cx="3044740" cy="2280616"/>
          </a:xfrm>
          <a:prstGeom prst="rect">
            <a:avLst/>
          </a:prstGeom>
        </p:spPr>
      </p:pic>
      <p:sp>
        <p:nvSpPr>
          <p:cNvPr id="16" name="TextBox 15">
            <a:extLst>
              <a:ext uri="{FF2B5EF4-FFF2-40B4-BE49-F238E27FC236}">
                <a16:creationId xmlns:a16="http://schemas.microsoft.com/office/drawing/2014/main" id="{BD91FA89-DDEE-CE0E-E6E2-320EB4989211}"/>
              </a:ext>
            </a:extLst>
          </p:cNvPr>
          <p:cNvSpPr txBox="1"/>
          <p:nvPr/>
        </p:nvSpPr>
        <p:spPr>
          <a:xfrm>
            <a:off x="1331167" y="5802352"/>
            <a:ext cx="1646853" cy="369332"/>
          </a:xfrm>
          <a:prstGeom prst="rect">
            <a:avLst/>
          </a:prstGeom>
          <a:noFill/>
        </p:spPr>
        <p:txBody>
          <a:bodyPr wrap="square" rtlCol="0">
            <a:spAutoFit/>
          </a:bodyPr>
          <a:lstStyle/>
          <a:p>
            <a:r>
              <a:rPr lang="en-IN" dirty="0"/>
              <a:t>pH Sensor</a:t>
            </a:r>
          </a:p>
        </p:txBody>
      </p:sp>
      <p:sp>
        <p:nvSpPr>
          <p:cNvPr id="17" name="TextBox 16">
            <a:extLst>
              <a:ext uri="{FF2B5EF4-FFF2-40B4-BE49-F238E27FC236}">
                <a16:creationId xmlns:a16="http://schemas.microsoft.com/office/drawing/2014/main" id="{774081BF-1E77-F764-A5C4-B18FD08580CF}"/>
              </a:ext>
            </a:extLst>
          </p:cNvPr>
          <p:cNvSpPr txBox="1"/>
          <p:nvPr/>
        </p:nvSpPr>
        <p:spPr>
          <a:xfrm>
            <a:off x="4880687" y="5802352"/>
            <a:ext cx="1758821" cy="369332"/>
          </a:xfrm>
          <a:prstGeom prst="rect">
            <a:avLst/>
          </a:prstGeom>
          <a:noFill/>
        </p:spPr>
        <p:txBody>
          <a:bodyPr wrap="square" rtlCol="0">
            <a:spAutoFit/>
          </a:bodyPr>
          <a:lstStyle/>
          <a:p>
            <a:r>
              <a:rPr lang="en-IN" dirty="0"/>
              <a:t>Turbidity Sensor</a:t>
            </a:r>
          </a:p>
        </p:txBody>
      </p:sp>
    </p:spTree>
    <p:extLst>
      <p:ext uri="{BB962C8B-B14F-4D97-AF65-F5344CB8AC3E}">
        <p14:creationId xmlns:p14="http://schemas.microsoft.com/office/powerpoint/2010/main" val="2285240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C932F-B791-B711-131E-270698CEA8DD}"/>
              </a:ext>
            </a:extLst>
          </p:cNvPr>
          <p:cNvSpPr>
            <a:spLocks noGrp="1"/>
          </p:cNvSpPr>
          <p:nvPr>
            <p:ph type="title"/>
          </p:nvPr>
        </p:nvSpPr>
        <p:spPr>
          <a:xfrm>
            <a:off x="838200" y="136525"/>
            <a:ext cx="10515600" cy="992479"/>
          </a:xfrm>
        </p:spPr>
        <p:txBody>
          <a:bodyPr/>
          <a:lstStyle/>
          <a:p>
            <a:pPr algn="ctr"/>
            <a:r>
              <a:rPr lang="en-US" b="1" dirty="0">
                <a:latin typeface="Times New Roman" panose="02020603050405020304" pitchFamily="18" charset="0"/>
                <a:cs typeface="Times New Roman" panose="02020603050405020304" pitchFamily="18" charset="0"/>
              </a:rPr>
              <a:t>Hardware requirement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A4F8174-0125-7529-799F-AABFA83CA6B9}"/>
              </a:ext>
            </a:extLst>
          </p:cNvPr>
          <p:cNvSpPr>
            <a:spLocks noGrp="1"/>
          </p:cNvSpPr>
          <p:nvPr>
            <p:ph idx="1"/>
          </p:nvPr>
        </p:nvSpPr>
        <p:spPr>
          <a:xfrm>
            <a:off x="680357" y="1431573"/>
            <a:ext cx="10831286" cy="1642187"/>
          </a:xfrm>
        </p:spPr>
        <p:txBody>
          <a:bodyPr>
            <a:normAutofit/>
          </a:bodyPr>
          <a:lstStyle/>
          <a:p>
            <a:r>
              <a:rPr lang="en-IN" sz="2600" dirty="0">
                <a:latin typeface="Times New Roman" panose="02020603050405020304" pitchFamily="18" charset="0"/>
                <a:cs typeface="Times New Roman" panose="02020603050405020304" pitchFamily="18" charset="0"/>
              </a:rPr>
              <a:t>Dissolved Oxygen Sensor: Measures oxygen concentration for aquatic life</a:t>
            </a:r>
          </a:p>
          <a:p>
            <a:r>
              <a:rPr lang="en-IN" sz="2600" dirty="0">
                <a:latin typeface="Times New Roman" panose="02020603050405020304" pitchFamily="18" charset="0"/>
                <a:cs typeface="Times New Roman" panose="02020603050405020304" pitchFamily="18" charset="0"/>
              </a:rPr>
              <a:t>Conductivity Sensor: Examines salinity and dissolved solids</a:t>
            </a:r>
          </a:p>
          <a:p>
            <a:r>
              <a:rPr lang="en-IN" sz="2600" dirty="0">
                <a:latin typeface="Times New Roman" panose="02020603050405020304" pitchFamily="18" charset="0"/>
                <a:cs typeface="Times New Roman" panose="02020603050405020304" pitchFamily="18" charset="0"/>
              </a:rPr>
              <a:t>Ultrasonic/Pressure Sensors: Accurate water level monitoring</a:t>
            </a:r>
          </a:p>
          <a:p>
            <a:pPr marL="0" indent="0">
              <a:buNone/>
            </a:pPr>
            <a:endParaRPr lang="en-US" b="0" i="0" dirty="0">
              <a:effectLst/>
              <a:latin typeface="Söhne"/>
            </a:endParaRPr>
          </a:p>
          <a:p>
            <a:endParaRPr lang="en-IN" dirty="0"/>
          </a:p>
        </p:txBody>
      </p:sp>
      <p:sp>
        <p:nvSpPr>
          <p:cNvPr id="4" name="Slide Number Placeholder 3">
            <a:extLst>
              <a:ext uri="{FF2B5EF4-FFF2-40B4-BE49-F238E27FC236}">
                <a16:creationId xmlns:a16="http://schemas.microsoft.com/office/drawing/2014/main" id="{5B226B1E-C9A9-D3A9-B061-AF79D2FBE85D}"/>
              </a:ext>
            </a:extLst>
          </p:cNvPr>
          <p:cNvSpPr>
            <a:spLocks noGrp="1"/>
          </p:cNvSpPr>
          <p:nvPr>
            <p:ph type="sldNum" sz="quarter" idx="12"/>
          </p:nvPr>
        </p:nvSpPr>
        <p:spPr/>
        <p:txBody>
          <a:bodyPr/>
          <a:lstStyle/>
          <a:p>
            <a:fld id="{BDCDBBEF-AA6C-4BA6-85B2-A17D7F280E38}" type="slidenum">
              <a:rPr lang="en-US" smtClean="0"/>
              <a:pPr/>
              <a:t>7</a:t>
            </a:fld>
            <a:endParaRPr lang="en-US"/>
          </a:p>
        </p:txBody>
      </p:sp>
      <p:pic>
        <p:nvPicPr>
          <p:cNvPr id="7" name="Picture 6">
            <a:extLst>
              <a:ext uri="{FF2B5EF4-FFF2-40B4-BE49-F238E27FC236}">
                <a16:creationId xmlns:a16="http://schemas.microsoft.com/office/drawing/2014/main" id="{D55E0CCC-A8D3-C7DF-1262-8E6FC7612DFE}"/>
              </a:ext>
            </a:extLst>
          </p:cNvPr>
          <p:cNvPicPr>
            <a:picLocks noChangeAspect="1"/>
          </p:cNvPicPr>
          <p:nvPr/>
        </p:nvPicPr>
        <p:blipFill>
          <a:blip r:embed="rId2">
            <a:extLst>
              <a:ext uri="{28A0092B-C50C-407E-A947-70E740481C1C}">
                <a14:useLocalDpi xmlns:a14="http://schemas.microsoft.com/office/drawing/2010/main" val="0"/>
              </a:ext>
            </a:extLst>
          </a:blip>
          <a:srcRect l="14972" t="22295" r="15792" b="20029"/>
          <a:stretch>
            <a:fillRect/>
          </a:stretch>
        </p:blipFill>
        <p:spPr>
          <a:xfrm>
            <a:off x="8579635" y="4040101"/>
            <a:ext cx="2415932" cy="1704714"/>
          </a:xfrm>
          <a:prstGeom prst="rect">
            <a:avLst/>
          </a:prstGeom>
        </p:spPr>
      </p:pic>
      <p:pic>
        <p:nvPicPr>
          <p:cNvPr id="9" name="Picture 8">
            <a:extLst>
              <a:ext uri="{FF2B5EF4-FFF2-40B4-BE49-F238E27FC236}">
                <a16:creationId xmlns:a16="http://schemas.microsoft.com/office/drawing/2014/main" id="{F5E50BBC-7183-C3EE-A022-46E3939AFB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268" y="3136577"/>
            <a:ext cx="2608238" cy="2608238"/>
          </a:xfrm>
          <a:prstGeom prst="rect">
            <a:avLst/>
          </a:prstGeom>
        </p:spPr>
      </p:pic>
      <p:pic>
        <p:nvPicPr>
          <p:cNvPr id="11" name="Picture 10">
            <a:extLst>
              <a:ext uri="{FF2B5EF4-FFF2-40B4-BE49-F238E27FC236}">
                <a16:creationId xmlns:a16="http://schemas.microsoft.com/office/drawing/2014/main" id="{5BE8994E-6BB5-F261-9DD4-9A153D1E42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15102" y="3505310"/>
            <a:ext cx="2315644" cy="2315644"/>
          </a:xfrm>
          <a:prstGeom prst="rect">
            <a:avLst/>
          </a:prstGeom>
        </p:spPr>
      </p:pic>
      <p:sp>
        <p:nvSpPr>
          <p:cNvPr id="13" name="TextBox 12">
            <a:extLst>
              <a:ext uri="{FF2B5EF4-FFF2-40B4-BE49-F238E27FC236}">
                <a16:creationId xmlns:a16="http://schemas.microsoft.com/office/drawing/2014/main" id="{7A8ECC36-6010-9397-4557-38CD516B606A}"/>
              </a:ext>
            </a:extLst>
          </p:cNvPr>
          <p:cNvSpPr txBox="1"/>
          <p:nvPr/>
        </p:nvSpPr>
        <p:spPr>
          <a:xfrm>
            <a:off x="8952164" y="5636288"/>
            <a:ext cx="2043403" cy="369332"/>
          </a:xfrm>
          <a:prstGeom prst="rect">
            <a:avLst/>
          </a:prstGeom>
          <a:noFill/>
        </p:spPr>
        <p:txBody>
          <a:bodyPr wrap="square" rtlCol="0">
            <a:spAutoFit/>
          </a:bodyPr>
          <a:lstStyle/>
          <a:p>
            <a:r>
              <a:rPr lang="en-IN" dirty="0"/>
              <a:t>Ultrasonic Sensor</a:t>
            </a:r>
          </a:p>
        </p:txBody>
      </p:sp>
      <p:sp>
        <p:nvSpPr>
          <p:cNvPr id="14" name="TextBox 13">
            <a:extLst>
              <a:ext uri="{FF2B5EF4-FFF2-40B4-BE49-F238E27FC236}">
                <a16:creationId xmlns:a16="http://schemas.microsoft.com/office/drawing/2014/main" id="{20B6029B-549B-40D3-5BAA-03A1453E199E}"/>
              </a:ext>
            </a:extLst>
          </p:cNvPr>
          <p:cNvSpPr txBox="1"/>
          <p:nvPr/>
        </p:nvSpPr>
        <p:spPr>
          <a:xfrm>
            <a:off x="1064101" y="5636288"/>
            <a:ext cx="2579915" cy="369332"/>
          </a:xfrm>
          <a:prstGeom prst="rect">
            <a:avLst/>
          </a:prstGeom>
          <a:noFill/>
        </p:spPr>
        <p:txBody>
          <a:bodyPr wrap="square" rtlCol="0">
            <a:spAutoFit/>
          </a:bodyPr>
          <a:lstStyle/>
          <a:p>
            <a:r>
              <a:rPr lang="en-US" dirty="0"/>
              <a:t>Dissolved Oxygen sensor</a:t>
            </a:r>
            <a:endParaRPr lang="en-IN" dirty="0"/>
          </a:p>
        </p:txBody>
      </p:sp>
      <p:sp>
        <p:nvSpPr>
          <p:cNvPr id="15" name="TextBox 14">
            <a:extLst>
              <a:ext uri="{FF2B5EF4-FFF2-40B4-BE49-F238E27FC236}">
                <a16:creationId xmlns:a16="http://schemas.microsoft.com/office/drawing/2014/main" id="{62D9F33D-97F6-4E08-21F4-EE5CF3D54523}"/>
              </a:ext>
            </a:extLst>
          </p:cNvPr>
          <p:cNvSpPr txBox="1"/>
          <p:nvPr/>
        </p:nvSpPr>
        <p:spPr>
          <a:xfrm>
            <a:off x="4992905" y="5636288"/>
            <a:ext cx="2160037" cy="369332"/>
          </a:xfrm>
          <a:prstGeom prst="rect">
            <a:avLst/>
          </a:prstGeom>
          <a:noFill/>
        </p:spPr>
        <p:txBody>
          <a:bodyPr wrap="square" rtlCol="0">
            <a:spAutoFit/>
          </a:bodyPr>
          <a:lstStyle/>
          <a:p>
            <a:r>
              <a:rPr lang="en-IN" dirty="0"/>
              <a:t>Conductivity Sensor</a:t>
            </a:r>
          </a:p>
        </p:txBody>
      </p:sp>
    </p:spTree>
    <p:extLst>
      <p:ext uri="{BB962C8B-B14F-4D97-AF65-F5344CB8AC3E}">
        <p14:creationId xmlns:p14="http://schemas.microsoft.com/office/powerpoint/2010/main" val="1396307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C0B0F-8075-6B9B-2407-413A824AC7CB}"/>
              </a:ext>
            </a:extLst>
          </p:cNvPr>
          <p:cNvSpPr>
            <a:spLocks noGrp="1"/>
          </p:cNvSpPr>
          <p:nvPr>
            <p:ph type="title"/>
          </p:nvPr>
        </p:nvSpPr>
        <p:spPr>
          <a:xfrm>
            <a:off x="838200" y="136525"/>
            <a:ext cx="10515600" cy="992479"/>
          </a:xfrm>
        </p:spPr>
        <p:txBody>
          <a:bodyPr/>
          <a:lstStyle/>
          <a:p>
            <a:pPr algn="ctr"/>
            <a:r>
              <a:rPr lang="en-US" b="1" dirty="0">
                <a:latin typeface="Times New Roman" panose="02020603050405020304" pitchFamily="18" charset="0"/>
                <a:cs typeface="Times New Roman" panose="02020603050405020304" pitchFamily="18" charset="0"/>
              </a:rPr>
              <a:t>Hardware requirement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E82BF0C-D81C-D9D7-BE5A-D3DC38FB3F53}"/>
              </a:ext>
            </a:extLst>
          </p:cNvPr>
          <p:cNvSpPr>
            <a:spLocks noGrp="1"/>
          </p:cNvSpPr>
          <p:nvPr>
            <p:ph idx="1"/>
          </p:nvPr>
        </p:nvSpPr>
        <p:spPr>
          <a:xfrm>
            <a:off x="494522" y="1203650"/>
            <a:ext cx="10859278" cy="3253027"/>
          </a:xfrm>
        </p:spPr>
        <p:txBody>
          <a:bodyPr>
            <a:normAutofit lnSpcReduction="10000"/>
          </a:bodyPr>
          <a:lstStyle/>
          <a:p>
            <a:pPr marL="0" indent="0" algn="just">
              <a:buNone/>
            </a:pPr>
            <a:r>
              <a:rPr lang="en-IN" dirty="0">
                <a:latin typeface="Times New Roman" panose="02020603050405020304" pitchFamily="18" charset="0"/>
                <a:cs typeface="Times New Roman" panose="02020603050405020304" pitchFamily="18" charset="0"/>
              </a:rPr>
              <a:t>Edge Devices:​</a:t>
            </a:r>
          </a:p>
          <a:p>
            <a:pPr lvl="2" algn="just"/>
            <a:r>
              <a:rPr lang="en-IN" sz="2400" dirty="0">
                <a:latin typeface="Times New Roman" panose="02020603050405020304" pitchFamily="18" charset="0"/>
                <a:cs typeface="Times New Roman" panose="02020603050405020304" pitchFamily="18" charset="0"/>
              </a:rPr>
              <a:t>ESP32/Arduino: Low-power, cost-effective microcontrollers</a:t>
            </a:r>
          </a:p>
          <a:p>
            <a:pPr lvl="2" algn="just"/>
            <a:r>
              <a:rPr lang="en-IN" sz="2400" dirty="0">
                <a:latin typeface="Times New Roman" panose="02020603050405020304" pitchFamily="18" charset="0"/>
                <a:cs typeface="Times New Roman" panose="02020603050405020304" pitchFamily="18" charset="0"/>
              </a:rPr>
              <a:t>Raspberry Pi: For applications requiring enhanced processing power and edge analytics</a:t>
            </a:r>
          </a:p>
          <a:p>
            <a:pPr marL="0" indent="0" algn="just">
              <a:buNone/>
            </a:pPr>
            <a:r>
              <a:rPr lang="en-IN" dirty="0">
                <a:latin typeface="Times New Roman" panose="02020603050405020304" pitchFamily="18" charset="0"/>
                <a:cs typeface="Times New Roman" panose="02020603050405020304" pitchFamily="18" charset="0"/>
              </a:rPr>
              <a:t>Communication Modules:​</a:t>
            </a:r>
          </a:p>
          <a:p>
            <a:pPr lvl="2" algn="just"/>
            <a:r>
              <a:rPr lang="en-IN" sz="2400" dirty="0">
                <a:latin typeface="Times New Roman" panose="02020603050405020304" pitchFamily="18" charset="0"/>
                <a:cs typeface="Times New Roman" panose="02020603050405020304" pitchFamily="18" charset="0"/>
              </a:rPr>
              <a:t>Wi-Fi: Short-range, high-bandwidth (urban water tanks)</a:t>
            </a:r>
          </a:p>
          <a:p>
            <a:pPr lvl="2" algn="just"/>
            <a:r>
              <a:rPr lang="en-IN" sz="2400" dirty="0">
                <a:latin typeface="Times New Roman" panose="02020603050405020304" pitchFamily="18" charset="0"/>
                <a:cs typeface="Times New Roman" panose="02020603050405020304" pitchFamily="18" charset="0"/>
              </a:rPr>
              <a:t>LoRaWAN: Long-range, low-power (rural applications)</a:t>
            </a:r>
          </a:p>
          <a:p>
            <a:pPr lvl="2" algn="just"/>
            <a:r>
              <a:rPr lang="en-IN" sz="2400" dirty="0">
                <a:latin typeface="Times New Roman" panose="02020603050405020304" pitchFamily="18" charset="0"/>
                <a:cs typeface="Times New Roman" panose="02020603050405020304" pitchFamily="18" charset="0"/>
              </a:rPr>
              <a:t>NB-IoT: Cellular-based wide-area monitoring</a:t>
            </a:r>
          </a:p>
          <a:p>
            <a:pPr marL="457200" lvl="1" indent="0" algn="just">
              <a:buNone/>
            </a:pPr>
            <a:endParaRPr lang="en-US" i="0" dirty="0">
              <a:effectLst/>
              <a:latin typeface="Times New Roman" panose="02020603050405020304" pitchFamily="18" charset="0"/>
              <a:cs typeface="Times New Roman" panose="02020603050405020304" pitchFamily="18" charset="0"/>
            </a:endParaRPr>
          </a:p>
          <a:p>
            <a:pPr marL="0" indent="0" algn="just">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75D87ED-C537-6EFB-25BB-669DF997A120}"/>
              </a:ext>
            </a:extLst>
          </p:cNvPr>
          <p:cNvSpPr>
            <a:spLocks noGrp="1"/>
          </p:cNvSpPr>
          <p:nvPr>
            <p:ph type="sldNum" sz="quarter" idx="12"/>
          </p:nvPr>
        </p:nvSpPr>
        <p:spPr/>
        <p:txBody>
          <a:bodyPr/>
          <a:lstStyle/>
          <a:p>
            <a:fld id="{BDCDBBEF-AA6C-4BA6-85B2-A17D7F280E38}" type="slidenum">
              <a:rPr lang="en-US" smtClean="0"/>
              <a:pPr/>
              <a:t>8</a:t>
            </a:fld>
            <a:endParaRPr lang="en-US"/>
          </a:p>
        </p:txBody>
      </p:sp>
      <p:pic>
        <p:nvPicPr>
          <p:cNvPr id="6" name="Picture 5">
            <a:extLst>
              <a:ext uri="{FF2B5EF4-FFF2-40B4-BE49-F238E27FC236}">
                <a16:creationId xmlns:a16="http://schemas.microsoft.com/office/drawing/2014/main" id="{ED5A7376-BD4D-457E-CB0C-8161FDC90F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65649" y="4510984"/>
            <a:ext cx="3498271" cy="1845366"/>
          </a:xfrm>
          <a:prstGeom prst="rect">
            <a:avLst/>
          </a:prstGeom>
        </p:spPr>
      </p:pic>
      <p:pic>
        <p:nvPicPr>
          <p:cNvPr id="10" name="Picture 9">
            <a:extLst>
              <a:ext uri="{FF2B5EF4-FFF2-40B4-BE49-F238E27FC236}">
                <a16:creationId xmlns:a16="http://schemas.microsoft.com/office/drawing/2014/main" id="{A0CB6BBA-A0FB-D756-00E6-38F1C9C75E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5159" y="4458881"/>
            <a:ext cx="2622680" cy="1897469"/>
          </a:xfrm>
          <a:prstGeom prst="rect">
            <a:avLst/>
          </a:prstGeom>
        </p:spPr>
      </p:pic>
      <p:sp>
        <p:nvSpPr>
          <p:cNvPr id="11" name="TextBox 10">
            <a:extLst>
              <a:ext uri="{FF2B5EF4-FFF2-40B4-BE49-F238E27FC236}">
                <a16:creationId xmlns:a16="http://schemas.microsoft.com/office/drawing/2014/main" id="{3B26A6E7-27D7-3364-AF7D-0A515D0472B5}"/>
              </a:ext>
            </a:extLst>
          </p:cNvPr>
          <p:cNvSpPr txBox="1"/>
          <p:nvPr/>
        </p:nvSpPr>
        <p:spPr>
          <a:xfrm>
            <a:off x="3257584" y="6356350"/>
            <a:ext cx="914400" cy="369332"/>
          </a:xfrm>
          <a:prstGeom prst="rect">
            <a:avLst/>
          </a:prstGeom>
          <a:noFill/>
        </p:spPr>
        <p:txBody>
          <a:bodyPr wrap="square" rtlCol="0">
            <a:spAutoFit/>
          </a:bodyPr>
          <a:lstStyle/>
          <a:p>
            <a:r>
              <a:rPr lang="en-US" dirty="0"/>
              <a:t>ESP32</a:t>
            </a:r>
            <a:endParaRPr lang="en-IN" dirty="0"/>
          </a:p>
        </p:txBody>
      </p:sp>
      <p:sp>
        <p:nvSpPr>
          <p:cNvPr id="12" name="TextBox 11">
            <a:extLst>
              <a:ext uri="{FF2B5EF4-FFF2-40B4-BE49-F238E27FC236}">
                <a16:creationId xmlns:a16="http://schemas.microsoft.com/office/drawing/2014/main" id="{144745F8-6DBE-D4FC-5277-6582706197DE}"/>
              </a:ext>
            </a:extLst>
          </p:cNvPr>
          <p:cNvSpPr txBox="1"/>
          <p:nvPr/>
        </p:nvSpPr>
        <p:spPr>
          <a:xfrm>
            <a:off x="8036573" y="6352143"/>
            <a:ext cx="1459852" cy="369332"/>
          </a:xfrm>
          <a:prstGeom prst="rect">
            <a:avLst/>
          </a:prstGeom>
          <a:noFill/>
        </p:spPr>
        <p:txBody>
          <a:bodyPr wrap="square" rtlCol="0">
            <a:spAutoFit/>
          </a:bodyPr>
          <a:lstStyle/>
          <a:p>
            <a:r>
              <a:rPr lang="en-IN" dirty="0"/>
              <a:t>Raspberry Pi</a:t>
            </a:r>
          </a:p>
        </p:txBody>
      </p:sp>
    </p:spTree>
    <p:extLst>
      <p:ext uri="{BB962C8B-B14F-4D97-AF65-F5344CB8AC3E}">
        <p14:creationId xmlns:p14="http://schemas.microsoft.com/office/powerpoint/2010/main" val="74278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DF903-5040-8909-E9ED-AEBCC48129DC}"/>
              </a:ext>
            </a:extLst>
          </p:cNvPr>
          <p:cNvSpPr>
            <a:spLocks noGrp="1"/>
          </p:cNvSpPr>
          <p:nvPr>
            <p:ph type="title"/>
          </p:nvPr>
        </p:nvSpPr>
        <p:spPr>
          <a:xfrm>
            <a:off x="838200" y="151321"/>
            <a:ext cx="10515600" cy="982536"/>
          </a:xfrm>
        </p:spPr>
        <p:txBody>
          <a:bodyPr/>
          <a:lstStyle/>
          <a:p>
            <a:pPr algn="ctr"/>
            <a:r>
              <a:rPr lang="en-US" b="1" dirty="0">
                <a:latin typeface="Times New Roman" panose="02020603050405020304" pitchFamily="18" charset="0"/>
                <a:cs typeface="Times New Roman" panose="02020603050405020304" pitchFamily="18" charset="0"/>
              </a:rPr>
              <a:t>Methodology to be used</a:t>
            </a:r>
            <a:endParaRPr lang="en-IN"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77CD371A-8614-0383-6B78-EC317F6DC4D0}"/>
              </a:ext>
            </a:extLst>
          </p:cNvPr>
          <p:cNvSpPr>
            <a:spLocks noGrp="1"/>
          </p:cNvSpPr>
          <p:nvPr>
            <p:ph type="sldNum" sz="quarter" idx="12"/>
          </p:nvPr>
        </p:nvSpPr>
        <p:spPr/>
        <p:txBody>
          <a:bodyPr/>
          <a:lstStyle/>
          <a:p>
            <a:fld id="{BDCDBBEF-AA6C-4BA6-85B2-A17D7F280E38}" type="slidenum">
              <a:rPr lang="en-US" smtClean="0"/>
              <a:pPr/>
              <a:t>9</a:t>
            </a:fld>
            <a:endParaRPr lang="en-US"/>
          </a:p>
        </p:txBody>
      </p:sp>
      <p:sp>
        <p:nvSpPr>
          <p:cNvPr id="6" name="Rectangle 5">
            <a:extLst>
              <a:ext uri="{FF2B5EF4-FFF2-40B4-BE49-F238E27FC236}">
                <a16:creationId xmlns:a16="http://schemas.microsoft.com/office/drawing/2014/main" id="{7EB2BBEF-563B-2A1C-CF6E-DF1020157F4D}"/>
              </a:ext>
            </a:extLst>
          </p:cNvPr>
          <p:cNvSpPr/>
          <p:nvPr/>
        </p:nvSpPr>
        <p:spPr>
          <a:xfrm>
            <a:off x="2093976" y="5202936"/>
            <a:ext cx="3182112" cy="5212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ontent Placeholder 6">
            <a:extLst>
              <a:ext uri="{FF2B5EF4-FFF2-40B4-BE49-F238E27FC236}">
                <a16:creationId xmlns:a16="http://schemas.microsoft.com/office/drawing/2014/main" id="{BFD351C1-7BA0-6E0C-F5A5-1CA2FF365937}"/>
              </a:ext>
            </a:extLst>
          </p:cNvPr>
          <p:cNvSpPr>
            <a:spLocks noGrp="1"/>
          </p:cNvSpPr>
          <p:nvPr>
            <p:ph idx="1"/>
          </p:nvPr>
        </p:nvSpPr>
        <p:spPr>
          <a:xfrm>
            <a:off x="457200" y="1439020"/>
            <a:ext cx="10896600" cy="4917330"/>
          </a:xfrm>
        </p:spPr>
        <p:txBody>
          <a:bodyPr>
            <a:normAutofit/>
          </a:bodyPr>
          <a:lstStyle/>
          <a:p>
            <a:pPr marL="0" indent="0" algn="just">
              <a:buNone/>
            </a:pPr>
            <a:r>
              <a:rPr lang="en-IN" sz="2600" dirty="0">
                <a:latin typeface="Times New Roman" panose="02020603050405020304" pitchFamily="18" charset="0"/>
                <a:cs typeface="Times New Roman" panose="02020603050405020304" pitchFamily="18" charset="0"/>
              </a:rPr>
              <a:t>Data Collection Setup:​</a:t>
            </a:r>
          </a:p>
          <a:p>
            <a:pPr lvl="1" algn="just"/>
            <a:r>
              <a:rPr lang="en-IN" sz="2600" dirty="0">
                <a:latin typeface="Times New Roman" panose="02020603050405020304" pitchFamily="18" charset="0"/>
                <a:cs typeface="Times New Roman" panose="02020603050405020304" pitchFamily="18" charset="0"/>
              </a:rPr>
              <a:t>Deployed across overhead tanks, lakes, and small reservoirs for heterogeneous datasets​</a:t>
            </a:r>
          </a:p>
          <a:p>
            <a:pPr lvl="1" algn="just"/>
            <a:r>
              <a:rPr lang="en-IN" sz="2600" dirty="0">
                <a:latin typeface="Times New Roman" panose="02020603050405020304" pitchFamily="18" charset="0"/>
                <a:cs typeface="Times New Roman" panose="02020603050405020304" pitchFamily="18" charset="0"/>
              </a:rPr>
              <a:t>Multi-parameter sensors connected to microcontroller with wireless communication modules​</a:t>
            </a:r>
          </a:p>
          <a:p>
            <a:pPr marL="0" indent="0" algn="just">
              <a:buNone/>
            </a:pPr>
            <a:r>
              <a:rPr lang="en-IN" sz="2600" dirty="0">
                <a:latin typeface="Times New Roman" panose="02020603050405020304" pitchFamily="18" charset="0"/>
                <a:cs typeface="Times New Roman" panose="02020603050405020304" pitchFamily="18" charset="0"/>
              </a:rPr>
              <a:t>Experimental Protocol:​</a:t>
            </a:r>
          </a:p>
          <a:p>
            <a:pPr lvl="1" algn="just"/>
            <a:r>
              <a:rPr lang="en-IN" sz="2600" dirty="0">
                <a:latin typeface="Times New Roman" panose="02020603050405020304" pitchFamily="18" charset="0"/>
                <a:cs typeface="Times New Roman" panose="02020603050405020304" pitchFamily="18" charset="0"/>
              </a:rPr>
              <a:t>Duration: 30-day continuous monitoring period​</a:t>
            </a:r>
          </a:p>
          <a:p>
            <a:pPr lvl="1" algn="just"/>
            <a:r>
              <a:rPr lang="en-IN" sz="2600" dirty="0">
                <a:latin typeface="Times New Roman" panose="02020603050405020304" pitchFamily="18" charset="0"/>
                <a:cs typeface="Times New Roman" panose="02020603050405020304" pitchFamily="18" charset="0"/>
              </a:rPr>
              <a:t>Sampling Rate: Data collected every 5 minutes​</a:t>
            </a:r>
          </a:p>
          <a:p>
            <a:pPr lvl="1" algn="just"/>
            <a:r>
              <a:rPr lang="en-IN" sz="2600" dirty="0">
                <a:latin typeface="Times New Roman" panose="02020603050405020304" pitchFamily="18" charset="0"/>
                <a:cs typeface="Times New Roman" panose="02020603050405020304" pitchFamily="18" charset="0"/>
              </a:rPr>
              <a:t>Validation: Laboratory sampling for ground-truth verification at regular intervals</a:t>
            </a:r>
          </a:p>
          <a:p>
            <a:pPr algn="just"/>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2810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791F5-5FB0-4772-CF18-C6EBF56B5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2632B-0FC5-6231-CF98-526DFFFB875D}"/>
              </a:ext>
            </a:extLst>
          </p:cNvPr>
          <p:cNvSpPr>
            <a:spLocks noGrp="1"/>
          </p:cNvSpPr>
          <p:nvPr>
            <p:ph type="title"/>
          </p:nvPr>
        </p:nvSpPr>
        <p:spPr>
          <a:xfrm>
            <a:off x="838200" y="151321"/>
            <a:ext cx="10515600" cy="982536"/>
          </a:xfrm>
        </p:spPr>
        <p:txBody>
          <a:bodyPr/>
          <a:lstStyle/>
          <a:p>
            <a:pPr algn="ctr"/>
            <a:r>
              <a:rPr lang="en-US" b="1" dirty="0">
                <a:latin typeface="Times New Roman" panose="02020603050405020304" pitchFamily="18" charset="0"/>
                <a:cs typeface="Times New Roman" panose="02020603050405020304" pitchFamily="18" charset="0"/>
              </a:rPr>
              <a:t>Methodology to be used</a:t>
            </a:r>
            <a:endParaRPr lang="en-IN" b="1"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DA1AB66E-01BB-A66B-0A4A-282D555771E2}"/>
              </a:ext>
            </a:extLst>
          </p:cNvPr>
          <p:cNvSpPr>
            <a:spLocks noGrp="1"/>
          </p:cNvSpPr>
          <p:nvPr>
            <p:ph type="sldNum" sz="quarter" idx="12"/>
          </p:nvPr>
        </p:nvSpPr>
        <p:spPr/>
        <p:txBody>
          <a:bodyPr/>
          <a:lstStyle/>
          <a:p>
            <a:fld id="{BDCDBBEF-AA6C-4BA6-85B2-A17D7F280E38}" type="slidenum">
              <a:rPr lang="en-US" smtClean="0"/>
              <a:pPr/>
              <a:t>10</a:t>
            </a:fld>
            <a:endParaRPr lang="en-US"/>
          </a:p>
        </p:txBody>
      </p:sp>
      <p:sp>
        <p:nvSpPr>
          <p:cNvPr id="6" name="Rectangle 5">
            <a:extLst>
              <a:ext uri="{FF2B5EF4-FFF2-40B4-BE49-F238E27FC236}">
                <a16:creationId xmlns:a16="http://schemas.microsoft.com/office/drawing/2014/main" id="{7D69C506-8AB4-2727-E947-AAD351BCE3D6}"/>
              </a:ext>
            </a:extLst>
          </p:cNvPr>
          <p:cNvSpPr/>
          <p:nvPr/>
        </p:nvSpPr>
        <p:spPr>
          <a:xfrm>
            <a:off x="2093976" y="5202936"/>
            <a:ext cx="3182112" cy="52120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Content Placeholder 6">
            <a:extLst>
              <a:ext uri="{FF2B5EF4-FFF2-40B4-BE49-F238E27FC236}">
                <a16:creationId xmlns:a16="http://schemas.microsoft.com/office/drawing/2014/main" id="{41563074-0E28-8825-FBCC-271996934E3C}"/>
              </a:ext>
            </a:extLst>
          </p:cNvPr>
          <p:cNvSpPr>
            <a:spLocks noGrp="1"/>
          </p:cNvSpPr>
          <p:nvPr>
            <p:ph idx="1"/>
          </p:nvPr>
        </p:nvSpPr>
        <p:spPr>
          <a:xfrm>
            <a:off x="647700" y="1520237"/>
            <a:ext cx="10896600" cy="3943303"/>
          </a:xfrm>
        </p:spPr>
        <p:txBody>
          <a:bodyPr>
            <a:normAutofit/>
          </a:bodyPr>
          <a:lstStyle/>
          <a:p>
            <a:pPr marL="0" indent="0" algn="just">
              <a:buNone/>
            </a:pPr>
            <a:r>
              <a:rPr lang="en-IN" sz="2600" dirty="0">
                <a:latin typeface="Times New Roman" panose="02020603050405020304" pitchFamily="18" charset="0"/>
                <a:cs typeface="Times New Roman" panose="02020603050405020304" pitchFamily="18" charset="0"/>
              </a:rPr>
              <a:t>AI/ML Techniques:​</a:t>
            </a:r>
          </a:p>
          <a:p>
            <a:pPr lvl="1" algn="just"/>
            <a:r>
              <a:rPr lang="en-IN" sz="2600" dirty="0">
                <a:latin typeface="Times New Roman" panose="02020603050405020304" pitchFamily="18" charset="0"/>
                <a:cs typeface="Times New Roman" panose="02020603050405020304" pitchFamily="18" charset="0"/>
              </a:rPr>
              <a:t>Decision Trees &amp; SVM: Classification of water quality (normal vs. abnormal)​</a:t>
            </a:r>
          </a:p>
          <a:p>
            <a:pPr lvl="1" algn="just"/>
            <a:r>
              <a:rPr lang="en-IN" sz="2600" dirty="0">
                <a:latin typeface="Times New Roman" panose="02020603050405020304" pitchFamily="18" charset="0"/>
                <a:cs typeface="Times New Roman" panose="02020603050405020304" pitchFamily="18" charset="0"/>
              </a:rPr>
              <a:t>CNN &amp; LSTM Networks: Time-series analysis for detecting minute anomalies and temporal dependencies​</a:t>
            </a:r>
          </a:p>
          <a:p>
            <a:pPr lvl="1" algn="just"/>
            <a:r>
              <a:rPr lang="en-IN" sz="2600" dirty="0">
                <a:latin typeface="Times New Roman" panose="02020603050405020304" pitchFamily="18" charset="0"/>
                <a:cs typeface="Times New Roman" panose="02020603050405020304" pitchFamily="18" charset="0"/>
              </a:rPr>
              <a:t>Cloud-hosted Training: Hyperparameter optimization for enhanced accuracy and efficiency​</a:t>
            </a:r>
          </a:p>
          <a:p>
            <a:pPr marL="0" indent="0" algn="just">
              <a:buNone/>
            </a:pPr>
            <a:r>
              <a:rPr lang="en-IN" sz="2600" dirty="0">
                <a:latin typeface="Times New Roman" panose="02020603050405020304" pitchFamily="18" charset="0"/>
                <a:cs typeface="Times New Roman" panose="02020603050405020304" pitchFamily="18" charset="0"/>
              </a:rPr>
              <a:t> Performance Metrics:​</a:t>
            </a:r>
          </a:p>
          <a:p>
            <a:pPr lvl="1" algn="just"/>
            <a:r>
              <a:rPr lang="en-IN" sz="2600" dirty="0">
                <a:latin typeface="Times New Roman" panose="02020603050405020304" pitchFamily="18" charset="0"/>
                <a:cs typeface="Times New Roman" panose="02020603050405020304" pitchFamily="18" charset="0"/>
              </a:rPr>
              <a:t>Accuracy, Latency, Power Consumption, Scalability</a:t>
            </a:r>
          </a:p>
          <a:p>
            <a:pPr algn="just"/>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98315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1B5F7-38E9-FF4D-B9E9-49FA6898D778}"/>
              </a:ext>
            </a:extLst>
          </p:cNvPr>
          <p:cNvSpPr>
            <a:spLocks noGrp="1"/>
          </p:cNvSpPr>
          <p:nvPr>
            <p:ph type="title"/>
          </p:nvPr>
        </p:nvSpPr>
        <p:spPr>
          <a:xfrm>
            <a:off x="838200" y="146112"/>
            <a:ext cx="10515600" cy="960438"/>
          </a:xfrm>
        </p:spPr>
        <p:txBody>
          <a:bodyPr/>
          <a:lstStyle/>
          <a:p>
            <a:pPr algn="ctr"/>
            <a:r>
              <a:rPr lang="en-IN" b="1" dirty="0">
                <a:latin typeface="Times New Roman" panose="02020603050405020304" pitchFamily="18" charset="0"/>
                <a:cs typeface="Times New Roman" panose="02020603050405020304" pitchFamily="18" charset="0"/>
              </a:rPr>
              <a:t>Literature Review </a:t>
            </a:r>
          </a:p>
        </p:txBody>
      </p:sp>
      <p:sp>
        <p:nvSpPr>
          <p:cNvPr id="3" name="Content Placeholder 2">
            <a:extLst>
              <a:ext uri="{FF2B5EF4-FFF2-40B4-BE49-F238E27FC236}">
                <a16:creationId xmlns:a16="http://schemas.microsoft.com/office/drawing/2014/main" id="{7CFC3A29-ADB0-B45E-329C-3CAC804E549B}"/>
              </a:ext>
            </a:extLst>
          </p:cNvPr>
          <p:cNvSpPr>
            <a:spLocks noGrp="1"/>
          </p:cNvSpPr>
          <p:nvPr>
            <p:ph idx="1"/>
          </p:nvPr>
        </p:nvSpPr>
        <p:spPr>
          <a:xfrm>
            <a:off x="429208" y="1240971"/>
            <a:ext cx="10924592" cy="5115379"/>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Evolution of Water Monitoring Systems:​</a:t>
            </a:r>
          </a:p>
          <a:p>
            <a:pPr marL="0" indent="0" algn="just">
              <a:buNone/>
            </a:pPr>
            <a:r>
              <a:rPr lang="en-US" dirty="0">
                <a:latin typeface="Times New Roman" panose="02020603050405020304" pitchFamily="18" charset="0"/>
                <a:cs typeface="Times New Roman" panose="02020603050405020304" pitchFamily="18" charset="0"/>
              </a:rPr>
              <a:t>    Early IoT Systems:</a:t>
            </a:r>
          </a:p>
          <a:p>
            <a:pPr lvl="1" algn="just"/>
            <a:r>
              <a:rPr lang="en-US" dirty="0">
                <a:latin typeface="Times New Roman" panose="02020603050405020304" pitchFamily="18" charset="0"/>
                <a:cs typeface="Times New Roman" panose="02020603050405020304" pitchFamily="18" charset="0"/>
              </a:rPr>
              <a:t>Low-cost sensor networks for pH, turbidity, temperature monitoring​</a:t>
            </a:r>
          </a:p>
          <a:p>
            <a:pPr lvl="1" algn="just"/>
            <a:r>
              <a:rPr lang="en-US" dirty="0">
                <a:latin typeface="Times New Roman" panose="02020603050405020304" pitchFamily="18" charset="0"/>
                <a:cs typeface="Times New Roman" panose="02020603050405020304" pitchFamily="18" charset="0"/>
              </a:rPr>
              <a:t>Limitations: Latency issues, poor connectivity, small-scale deployments​</a:t>
            </a:r>
          </a:p>
          <a:p>
            <a:pPr marL="0" indent="0" algn="just">
              <a:buNone/>
            </a:pPr>
            <a:r>
              <a:rPr lang="en-US" dirty="0">
                <a:latin typeface="Times New Roman" panose="02020603050405020304" pitchFamily="18" charset="0"/>
                <a:cs typeface="Times New Roman" panose="02020603050405020304" pitchFamily="18" charset="0"/>
              </a:rPr>
              <a:t>    Cloud-Integrated Systems:</a:t>
            </a:r>
          </a:p>
          <a:p>
            <a:pPr lvl="1" algn="just"/>
            <a:r>
              <a:rPr lang="en-US" dirty="0">
                <a:latin typeface="Times New Roman" panose="02020603050405020304" pitchFamily="18" charset="0"/>
                <a:cs typeface="Times New Roman" panose="02020603050405020304" pitchFamily="18" charset="0"/>
              </a:rPr>
              <a:t>Centralized data aggregation with remote viewing capabilities​</a:t>
            </a:r>
          </a:p>
          <a:p>
            <a:pPr lvl="1" algn="just"/>
            <a:r>
              <a:rPr lang="en-US" dirty="0">
                <a:latin typeface="Times New Roman" panose="02020603050405020304" pitchFamily="18" charset="0"/>
                <a:cs typeface="Times New Roman" panose="02020603050405020304" pitchFamily="18" charset="0"/>
              </a:rPr>
              <a:t>Gap: Focused only on storage/visualization, lacked advanced analytics​</a:t>
            </a:r>
          </a:p>
          <a:p>
            <a:pPr marL="0" indent="0" algn="just">
              <a:buNone/>
            </a:pPr>
            <a:r>
              <a:rPr lang="en-US" dirty="0">
                <a:latin typeface="Times New Roman" panose="02020603050405020304" pitchFamily="18" charset="0"/>
                <a:cs typeface="Times New Roman" panose="02020603050405020304" pitchFamily="18" charset="0"/>
              </a:rPr>
              <a:t>    AI/ML Applications:</a:t>
            </a:r>
          </a:p>
          <a:p>
            <a:pPr lvl="1" algn="just"/>
            <a:r>
              <a:rPr lang="en-US" dirty="0">
                <a:latin typeface="Times New Roman" panose="02020603050405020304" pitchFamily="18" charset="0"/>
                <a:cs typeface="Times New Roman" panose="02020603050405020304" pitchFamily="18" charset="0"/>
              </a:rPr>
              <a:t>High accuracy in detecting anomalies and predicting contamination​</a:t>
            </a:r>
          </a:p>
          <a:p>
            <a:pPr lvl="1" algn="just"/>
            <a:r>
              <a:rPr lang="en-US" dirty="0">
                <a:latin typeface="Times New Roman" panose="02020603050405020304" pitchFamily="18" charset="0"/>
                <a:cs typeface="Times New Roman" panose="02020603050405020304" pitchFamily="18" charset="0"/>
              </a:rPr>
              <a:t>Challenge: Offered separately, not integrated into IoT-cloud ecosystems​</a:t>
            </a:r>
          </a:p>
          <a:p>
            <a:pPr marL="0" indent="0" algn="just">
              <a:buNone/>
            </a:pPr>
            <a:r>
              <a:rPr lang="en-US" dirty="0">
                <a:latin typeface="Times New Roman" panose="02020603050405020304" pitchFamily="18" charset="0"/>
                <a:cs typeface="Times New Roman" panose="02020603050405020304" pitchFamily="18" charset="0"/>
              </a:rPr>
              <a:t>    </a:t>
            </a:r>
          </a:p>
        </p:txBody>
      </p:sp>
      <p:sp>
        <p:nvSpPr>
          <p:cNvPr id="4" name="Slide Number Placeholder 3">
            <a:extLst>
              <a:ext uri="{FF2B5EF4-FFF2-40B4-BE49-F238E27FC236}">
                <a16:creationId xmlns:a16="http://schemas.microsoft.com/office/drawing/2014/main" id="{4B118C7A-9DB4-0CF2-D3D1-834A5D8707BF}"/>
              </a:ext>
            </a:extLst>
          </p:cNvPr>
          <p:cNvSpPr>
            <a:spLocks noGrp="1"/>
          </p:cNvSpPr>
          <p:nvPr>
            <p:ph type="sldNum" sz="quarter" idx="12"/>
          </p:nvPr>
        </p:nvSpPr>
        <p:spPr/>
        <p:txBody>
          <a:bodyPr/>
          <a:lstStyle/>
          <a:p>
            <a:fld id="{BDCDBBEF-AA6C-4BA6-85B2-A17D7F280E38}" type="slidenum">
              <a:rPr lang="en-US" smtClean="0"/>
              <a:pPr/>
              <a:t>11</a:t>
            </a:fld>
            <a:endParaRPr lang="en-US"/>
          </a:p>
        </p:txBody>
      </p:sp>
    </p:spTree>
    <p:extLst>
      <p:ext uri="{BB962C8B-B14F-4D97-AF65-F5344CB8AC3E}">
        <p14:creationId xmlns:p14="http://schemas.microsoft.com/office/powerpoint/2010/main" val="3155579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F5CEA-8297-B7EF-45D2-4DF24E97892A}"/>
              </a:ext>
            </a:extLst>
          </p:cNvPr>
          <p:cNvSpPr>
            <a:spLocks noGrp="1"/>
          </p:cNvSpPr>
          <p:nvPr>
            <p:ph type="title"/>
          </p:nvPr>
        </p:nvSpPr>
        <p:spPr>
          <a:xfrm>
            <a:off x="838200" y="136526"/>
            <a:ext cx="10515600" cy="1001810"/>
          </a:xfrm>
        </p:spPr>
        <p:txBody>
          <a:bodyPr/>
          <a:lstStyle/>
          <a:p>
            <a:pPr algn="ctr"/>
            <a:r>
              <a:rPr lang="en-IN" b="1" dirty="0">
                <a:latin typeface="Times New Roman" panose="02020603050405020304" pitchFamily="18" charset="0"/>
                <a:cs typeface="Times New Roman" panose="02020603050405020304" pitchFamily="18" charset="0"/>
              </a:rPr>
              <a:t>Literature</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Review</a:t>
            </a:r>
            <a:r>
              <a:rPr lang="en-IN"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781038C7-7535-926D-9DEB-6D85D986FC65}"/>
              </a:ext>
            </a:extLst>
          </p:cNvPr>
          <p:cNvSpPr>
            <a:spLocks noGrp="1"/>
          </p:cNvSpPr>
          <p:nvPr>
            <p:ph idx="1"/>
          </p:nvPr>
        </p:nvSpPr>
        <p:spPr>
          <a:xfrm>
            <a:off x="457200" y="1268962"/>
            <a:ext cx="10896600" cy="5180693"/>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AquaSentinel's Contribution:​</a:t>
            </a:r>
          </a:p>
          <a:p>
            <a:pPr lvl="1"/>
            <a:r>
              <a:rPr lang="en-US" dirty="0">
                <a:latin typeface="Times New Roman" panose="02020603050405020304" pitchFamily="18" charset="0"/>
                <a:cs typeface="Times New Roman" panose="02020603050405020304" pitchFamily="18" charset="0"/>
              </a:rPr>
              <a:t>First fully integrated solution combining AIoT sensing, cloud storage/analytics, and AI-driven anomaly detection</a:t>
            </a:r>
          </a:p>
          <a:p>
            <a:pPr lvl="1"/>
            <a:r>
              <a:rPr lang="en-US" dirty="0">
                <a:latin typeface="Times New Roman" panose="02020603050405020304" pitchFamily="18" charset="0"/>
                <a:cs typeface="Times New Roman" panose="02020603050405020304" pitchFamily="18" charset="0"/>
              </a:rPr>
              <a:t>Provides end-to-end intelligence from data collection to predictive management insights</a:t>
            </a:r>
          </a:p>
        </p:txBody>
      </p:sp>
      <p:sp>
        <p:nvSpPr>
          <p:cNvPr id="4" name="Slide Number Placeholder 3">
            <a:extLst>
              <a:ext uri="{FF2B5EF4-FFF2-40B4-BE49-F238E27FC236}">
                <a16:creationId xmlns:a16="http://schemas.microsoft.com/office/drawing/2014/main" id="{35E41C06-DA94-FF01-3C9F-0DE66C5E4841}"/>
              </a:ext>
            </a:extLst>
          </p:cNvPr>
          <p:cNvSpPr>
            <a:spLocks noGrp="1"/>
          </p:cNvSpPr>
          <p:nvPr>
            <p:ph type="sldNum" sz="quarter" idx="12"/>
          </p:nvPr>
        </p:nvSpPr>
        <p:spPr/>
        <p:txBody>
          <a:bodyPr/>
          <a:lstStyle/>
          <a:p>
            <a:fld id="{BDCDBBEF-AA6C-4BA6-85B2-A17D7F280E38}" type="slidenum">
              <a:rPr lang="en-US" smtClean="0"/>
              <a:pPr/>
              <a:t>12</a:t>
            </a:fld>
            <a:endParaRPr lang="en-US"/>
          </a:p>
        </p:txBody>
      </p:sp>
      <p:pic>
        <p:nvPicPr>
          <p:cNvPr id="6" name="Picture 5">
            <a:extLst>
              <a:ext uri="{FF2B5EF4-FFF2-40B4-BE49-F238E27FC236}">
                <a16:creationId xmlns:a16="http://schemas.microsoft.com/office/drawing/2014/main" id="{2CB32BD6-7318-3A94-D457-24E8A1290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561" y="3223792"/>
            <a:ext cx="5218939" cy="3497682"/>
          </a:xfrm>
          <a:prstGeom prst="rect">
            <a:avLst/>
          </a:prstGeom>
        </p:spPr>
      </p:pic>
      <p:pic>
        <p:nvPicPr>
          <p:cNvPr id="5" name="Picture 4">
            <a:extLst>
              <a:ext uri="{FF2B5EF4-FFF2-40B4-BE49-F238E27FC236}">
                <a16:creationId xmlns:a16="http://schemas.microsoft.com/office/drawing/2014/main" id="{42D90E4C-C1B1-1CB2-1934-725FD53D0815}"/>
              </a:ext>
            </a:extLst>
          </p:cNvPr>
          <p:cNvPicPr>
            <a:picLocks noChangeAspect="1"/>
          </p:cNvPicPr>
          <p:nvPr/>
        </p:nvPicPr>
        <p:blipFill>
          <a:blip r:embed="rId3"/>
          <a:stretch>
            <a:fillRect/>
          </a:stretch>
        </p:blipFill>
        <p:spPr>
          <a:xfrm>
            <a:off x="6288405" y="3691628"/>
            <a:ext cx="4644390" cy="3029846"/>
          </a:xfrm>
          <a:prstGeom prst="rect">
            <a:avLst/>
          </a:prstGeom>
        </p:spPr>
      </p:pic>
      <p:sp>
        <p:nvSpPr>
          <p:cNvPr id="7" name="TextBox 6">
            <a:extLst>
              <a:ext uri="{FF2B5EF4-FFF2-40B4-BE49-F238E27FC236}">
                <a16:creationId xmlns:a16="http://schemas.microsoft.com/office/drawing/2014/main" id="{AD7136AB-62E6-03CC-730D-B6C8F13AC507}"/>
              </a:ext>
            </a:extLst>
          </p:cNvPr>
          <p:cNvSpPr txBox="1"/>
          <p:nvPr/>
        </p:nvSpPr>
        <p:spPr>
          <a:xfrm>
            <a:off x="7329109" y="3376336"/>
            <a:ext cx="3088281" cy="369332"/>
          </a:xfrm>
          <a:prstGeom prst="rect">
            <a:avLst/>
          </a:prstGeom>
          <a:noFill/>
        </p:spPr>
        <p:txBody>
          <a:bodyPr wrap="none" rtlCol="0">
            <a:spAutoFit/>
          </a:bodyPr>
          <a:lstStyle/>
          <a:p>
            <a:r>
              <a:rPr lang="en-US" dirty="0">
                <a:solidFill>
                  <a:schemeClr val="bg2">
                    <a:lumMod val="75000"/>
                  </a:schemeClr>
                </a:solidFill>
                <a:latin typeface="Times New Roman" panose="02020603050405020304" pitchFamily="18" charset="0"/>
                <a:cs typeface="Times New Roman" panose="02020603050405020304" pitchFamily="18" charset="0"/>
              </a:rPr>
              <a:t>Figure: Latency vs Model Type</a:t>
            </a:r>
            <a:endParaRPr lang="en-IN" dirty="0">
              <a:solidFill>
                <a:schemeClr val="bg2">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5423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983148"/>
          </a:xfrm>
        </p:spPr>
        <p:txBody>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3" name="Content Placeholder 2"/>
          <p:cNvSpPr>
            <a:spLocks noGrp="1"/>
          </p:cNvSpPr>
          <p:nvPr>
            <p:ph idx="1"/>
          </p:nvPr>
        </p:nvSpPr>
        <p:spPr>
          <a:xfrm>
            <a:off x="657030" y="1429689"/>
            <a:ext cx="10877939" cy="4926661"/>
          </a:xfrm>
        </p:spPr>
        <p:txBody>
          <a:bodyPr>
            <a:normAutofit/>
          </a:bodyPr>
          <a:lstStyle/>
          <a:p>
            <a:pPr marL="0" indent="0" algn="just">
              <a:buNone/>
            </a:pPr>
            <a:r>
              <a:rPr lang="en-US" sz="2400" dirty="0">
                <a:latin typeface="Times New Roman" panose="02020603050405020304" pitchFamily="18" charset="0"/>
                <a:cs typeface="Times New Roman" panose="02020603050405020304" pitchFamily="18" charset="0"/>
              </a:rPr>
              <a:t>AquaSentinel is a cloud-enabled AIoT system that monitors real-time water quality and water levels to address critical challenges of water pollution, scarcity, and floods. By integrating AI models with IoT sensors and cloud infrastructure, the system delivers high-precision water quality classification, anomaly detection, and predictive alerts. Experimental results demonstrate improved efficiency, accuracy, and scalability compared to conventional methods, with significant reductions in latency and enhanced anomaly detection capabilities. The cloud integration provides superior data storage, visibility, and accessibility, while the user-friendly dashboard and automated alert system enable effective decision-making for policymakers and communities. AquaSentinel's modular and scalable architecture positions it as a viable solution for both urban smart cities and rural water resource management, offering a sustainable foundation for intelligent water management by bridging IoT, AI, and cloud computing technologies.</a:t>
            </a:r>
          </a:p>
        </p:txBody>
      </p:sp>
      <p:sp>
        <p:nvSpPr>
          <p:cNvPr id="4" name="Slide Number Placeholder 3"/>
          <p:cNvSpPr>
            <a:spLocks noGrp="1"/>
          </p:cNvSpPr>
          <p:nvPr>
            <p:ph type="sldNum" sz="quarter" idx="12"/>
          </p:nvPr>
        </p:nvSpPr>
        <p:spPr/>
        <p:txBody>
          <a:bodyPr/>
          <a:lstStyle/>
          <a:p>
            <a:fld id="{BDCDBBEF-AA6C-4BA6-85B2-A17D7F280E38}" type="slidenum">
              <a:rPr lang="en-US" smtClean="0"/>
              <a:pPr/>
              <a:t>13</a:t>
            </a:fld>
            <a:endParaRPr lang="en-US"/>
          </a:p>
        </p:txBody>
      </p:sp>
    </p:spTree>
    <p:extLst>
      <p:ext uri="{BB962C8B-B14F-4D97-AF65-F5344CB8AC3E}">
        <p14:creationId xmlns:p14="http://schemas.microsoft.com/office/powerpoint/2010/main" val="880465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6"/>
            <a:ext cx="10515600" cy="983148"/>
          </a:xfrm>
        </p:spPr>
        <p:txBody>
          <a:bodyPr/>
          <a:lstStyle/>
          <a:p>
            <a:pPr algn="ctr"/>
            <a:r>
              <a:rPr lang="en-US" b="1" dirty="0">
                <a:latin typeface="Times New Roman" panose="02020603050405020304" pitchFamily="18" charset="0"/>
                <a:cs typeface="Times New Roman" panose="02020603050405020304" pitchFamily="18" charset="0"/>
              </a:rPr>
              <a:t>Future Scope</a:t>
            </a:r>
          </a:p>
        </p:txBody>
      </p:sp>
      <p:sp>
        <p:nvSpPr>
          <p:cNvPr id="3" name="Content Placeholder 2"/>
          <p:cNvSpPr>
            <a:spLocks noGrp="1"/>
          </p:cNvSpPr>
          <p:nvPr>
            <p:ph idx="1"/>
          </p:nvPr>
        </p:nvSpPr>
        <p:spPr>
          <a:xfrm>
            <a:off x="438539" y="1212980"/>
            <a:ext cx="10915261" cy="5279895"/>
          </a:xfrm>
        </p:spPr>
        <p:txBody>
          <a:bodyPr>
            <a:normAutofit/>
          </a:bodyPr>
          <a:lstStyle/>
          <a:p>
            <a:pPr algn="just"/>
            <a:r>
              <a:rPr lang="en-US" sz="2600" dirty="0">
                <a:latin typeface="Times New Roman" panose="02020603050405020304" pitchFamily="18" charset="0"/>
                <a:cs typeface="Times New Roman" panose="02020603050405020304" pitchFamily="18" charset="0"/>
              </a:rPr>
              <a:t>Blockchain Integration: Secure, tamper-proof, transparent water quality data management for regulatory compliance​</a:t>
            </a:r>
          </a:p>
          <a:p>
            <a:pPr algn="just"/>
            <a:r>
              <a:rPr lang="en-US" sz="2600" dirty="0">
                <a:latin typeface="Times New Roman" panose="02020603050405020304" pitchFamily="18" charset="0"/>
                <a:cs typeface="Times New Roman" panose="02020603050405020304" pitchFamily="18" charset="0"/>
              </a:rPr>
              <a:t>Advanced Deep Learning: Implement recurrent neural networks and attention-based models for enhanced anomaly detection​</a:t>
            </a:r>
          </a:p>
          <a:p>
            <a:pPr algn="just"/>
            <a:r>
              <a:rPr lang="en-US" sz="2600" dirty="0">
                <a:latin typeface="Times New Roman" panose="02020603050405020304" pitchFamily="18" charset="0"/>
                <a:cs typeface="Times New Roman" panose="02020603050405020304" pitchFamily="18" charset="0"/>
              </a:rPr>
              <a:t>Smart City Integration: Interoperability with flood management, wastewater treatment, and emergency response systems​</a:t>
            </a:r>
          </a:p>
          <a:p>
            <a:pPr algn="just"/>
            <a:r>
              <a:rPr lang="en-US" sz="2600" dirty="0">
                <a:latin typeface="Times New Roman" panose="02020603050405020304" pitchFamily="18" charset="0"/>
                <a:cs typeface="Times New Roman" panose="02020603050405020304" pitchFamily="18" charset="0"/>
              </a:rPr>
              <a:t>Low-Power Edge AI: Deploy in remote/resource-limited regions for continuous surveillance without heavy cloud dependence​</a:t>
            </a:r>
          </a:p>
          <a:p>
            <a:pPr algn="just"/>
            <a:r>
              <a:rPr lang="en-US" sz="2600" dirty="0">
                <a:latin typeface="Times New Roman" panose="02020603050405020304" pitchFamily="18" charset="0"/>
                <a:cs typeface="Times New Roman" panose="02020603050405020304" pitchFamily="18" charset="0"/>
              </a:rPr>
              <a:t>Industrial Expansion: Scale to industrial wastewater monitoring with stricter environmental compliance requirements​</a:t>
            </a:r>
          </a:p>
          <a:p>
            <a:pPr algn="just"/>
            <a:r>
              <a:rPr lang="en-US" sz="2600" dirty="0">
                <a:latin typeface="Times New Roman" panose="02020603050405020304" pitchFamily="18" charset="0"/>
                <a:cs typeface="Times New Roman" panose="02020603050405020304" pitchFamily="18" charset="0"/>
              </a:rPr>
              <a:t>Enhanced Predictive Analytics: Further optimize forecasting models for seasonal patterns and contamination events</a:t>
            </a:r>
          </a:p>
          <a:p>
            <a:pPr algn="just"/>
            <a:endParaRPr lang="en-US" sz="26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Tree>
    <p:extLst>
      <p:ext uri="{BB962C8B-B14F-4D97-AF65-F5344CB8AC3E}">
        <p14:creationId xmlns:p14="http://schemas.microsoft.com/office/powerpoint/2010/main" val="19524283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6525"/>
            <a:ext cx="10515600" cy="99247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3" name="Content Placeholder 2"/>
          <p:cNvSpPr>
            <a:spLocks noGrp="1"/>
          </p:cNvSpPr>
          <p:nvPr>
            <p:ph idx="1"/>
          </p:nvPr>
        </p:nvSpPr>
        <p:spPr>
          <a:xfrm>
            <a:off x="401216" y="1250302"/>
            <a:ext cx="10952584" cy="4926661"/>
          </a:xfrm>
        </p:spPr>
        <p:txBody>
          <a:bodyPr>
            <a:normAutofit/>
          </a:bodyPr>
          <a:lstStyle/>
          <a:p>
            <a:pPr marL="0" indent="0" algn="just">
              <a:buNone/>
            </a:pPr>
            <a:r>
              <a:rPr lang="en-IN" b="1" dirty="0">
                <a:latin typeface="Times New Roman" panose="02020603050405020304" pitchFamily="18" charset="0"/>
                <a:cs typeface="Times New Roman" panose="02020603050405020304" pitchFamily="18" charset="0"/>
              </a:rPr>
              <a:t>Key Research Citations:​</a:t>
            </a:r>
          </a:p>
          <a:p>
            <a:pPr lvl="1" algn="just"/>
            <a:r>
              <a:rPr lang="en-IN" dirty="0">
                <a:latin typeface="Times New Roman" panose="02020603050405020304" pitchFamily="18" charset="0"/>
                <a:cs typeface="Times New Roman" panose="02020603050405020304" pitchFamily="18" charset="0"/>
              </a:rPr>
              <a:t>Leigh C. et al., "A framework of automated anomaly detection in high frequency water-quality data using in situ sensors,"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preprint, October 2018</a:t>
            </a:r>
          </a:p>
          <a:p>
            <a:pPr lvl="1" algn="just"/>
            <a:r>
              <a:rPr lang="en-IN" dirty="0">
                <a:latin typeface="Times New Roman" panose="02020603050405020304" pitchFamily="18" charset="0"/>
                <a:cs typeface="Times New Roman" panose="02020603050405020304" pitchFamily="18" charset="0"/>
              </a:rPr>
              <a:t>Singh N. et al., "Detection of Water Quality through Machine Learning and IoT," IJERT, vol. 10, no. 11, 2021</a:t>
            </a:r>
          </a:p>
          <a:p>
            <a:pPr lvl="1" algn="just"/>
            <a:r>
              <a:rPr lang="en-IN" dirty="0" err="1">
                <a:latin typeface="Times New Roman" panose="02020603050405020304" pitchFamily="18" charset="0"/>
                <a:cs typeface="Times New Roman" panose="02020603050405020304" pitchFamily="18" charset="0"/>
              </a:rPr>
              <a:t>Moursi</a:t>
            </a:r>
            <a:r>
              <a:rPr lang="en-IN" dirty="0">
                <a:latin typeface="Times New Roman" panose="02020603050405020304" pitchFamily="18" charset="0"/>
                <a:cs typeface="Times New Roman" panose="02020603050405020304" pitchFamily="18" charset="0"/>
              </a:rPr>
              <a:t> M. et al., "Smart Environmental Monitoring of Marine Pollution using Edge AI,"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Apr. 2025</a:t>
            </a:r>
          </a:p>
          <a:p>
            <a:pPr lvl="1" algn="just"/>
            <a:r>
              <a:rPr lang="en-IN" dirty="0">
                <a:latin typeface="Times New Roman" panose="02020603050405020304" pitchFamily="18" charset="0"/>
                <a:cs typeface="Times New Roman" panose="02020603050405020304" pitchFamily="18" charset="0"/>
              </a:rPr>
              <a:t>Kathen M. J. et al., "</a:t>
            </a:r>
            <a:r>
              <a:rPr lang="en-IN" dirty="0" err="1">
                <a:latin typeface="Times New Roman" panose="02020603050405020304" pitchFamily="18" charset="0"/>
                <a:cs typeface="Times New Roman" panose="02020603050405020304" pitchFamily="18" charset="0"/>
              </a:rPr>
              <a:t>AquaFeL</a:t>
            </a:r>
            <a:r>
              <a:rPr lang="en-IN" dirty="0">
                <a:latin typeface="Times New Roman" panose="02020603050405020304" pitchFamily="18" charset="0"/>
                <a:cs typeface="Times New Roman" panose="02020603050405020304" pitchFamily="18" charset="0"/>
              </a:rPr>
              <a:t>-PSO: Monitoring system of water resources through autonomous surface vessels,"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 Nov. 2022</a:t>
            </a:r>
          </a:p>
          <a:p>
            <a:pPr lvl="1" algn="just"/>
            <a:r>
              <a:rPr lang="en-IN" dirty="0">
                <a:latin typeface="Times New Roman" panose="02020603050405020304" pitchFamily="18" charset="0"/>
                <a:cs typeface="Times New Roman" panose="02020603050405020304" pitchFamily="18" charset="0"/>
              </a:rPr>
              <a:t>"Anomaly Detection of Water Quality Sensor Monitoring Using Multivariate Deep Learning," Sensors, vol. 23, no. 20, Oct. 2023</a:t>
            </a:r>
          </a:p>
          <a:p>
            <a:pPr lvl="1" algn="just"/>
            <a:r>
              <a:rPr lang="en-IN" dirty="0">
                <a:latin typeface="Times New Roman" panose="02020603050405020304" pitchFamily="18" charset="0"/>
                <a:cs typeface="Times New Roman" panose="02020603050405020304" pitchFamily="18" charset="0"/>
              </a:rPr>
              <a:t>"AI-Based Anomaly Detection of Smart Water Metering Systems through Ensemble Learning," Water, vol. 17, no. 13, Jun. 2025</a:t>
            </a:r>
          </a:p>
          <a:p>
            <a:pPr algn="just"/>
            <a:endParaRPr lang="en-US" sz="1900" dirty="0">
              <a:latin typeface="Times New Roman" panose="02020603050405020304" pitchFamily="18" charset="0"/>
              <a:cs typeface="Times New Roman" panose="02020603050405020304" pitchFamily="18" charset="0"/>
            </a:endParaRPr>
          </a:p>
          <a:p>
            <a:pPr algn="just"/>
            <a:endParaRPr lang="en-US" sz="19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15</a:t>
            </a:fld>
            <a:endParaRPr lang="en-US"/>
          </a:p>
        </p:txBody>
      </p:sp>
    </p:spTree>
    <p:extLst>
      <p:ext uri="{BB962C8B-B14F-4D97-AF65-F5344CB8AC3E}">
        <p14:creationId xmlns:p14="http://schemas.microsoft.com/office/powerpoint/2010/main" val="191225856"/>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7113</TotalTime>
  <Words>1192</Words>
  <Application>Microsoft Office PowerPoint</Application>
  <PresentationFormat>Widescreen</PresentationFormat>
  <Paragraphs>135</Paragraphs>
  <Slides>15</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15</vt:i4>
      </vt:variant>
    </vt:vector>
  </HeadingPairs>
  <TitlesOfParts>
    <vt:vector size="26" baseType="lpstr">
      <vt:lpstr>Arial</vt:lpstr>
      <vt:lpstr>Bradley Hand ITC</vt:lpstr>
      <vt:lpstr>Britannic Bold</vt:lpstr>
      <vt:lpstr>Calibri</vt:lpstr>
      <vt:lpstr>Calibri Light</vt:lpstr>
      <vt:lpstr>Casper</vt:lpstr>
      <vt:lpstr>Söhne</vt:lpstr>
      <vt:lpstr>Times New Roman</vt:lpstr>
      <vt:lpstr>1_Office Theme</vt:lpstr>
      <vt:lpstr>2_Office Theme</vt:lpstr>
      <vt:lpstr>Contents Slide Master</vt:lpstr>
      <vt:lpstr>PowerPoint Presentation</vt:lpstr>
      <vt:lpstr>Outline</vt:lpstr>
      <vt:lpstr>Introduction to Aquasentinel</vt:lpstr>
      <vt:lpstr>Problem Formulation</vt:lpstr>
      <vt:lpstr>Objectives of the Work</vt:lpstr>
      <vt:lpstr>Hardware requirement</vt:lpstr>
      <vt:lpstr>Hardware requirement</vt:lpstr>
      <vt:lpstr>Hardware requirement</vt:lpstr>
      <vt:lpstr>Methodology to be used</vt:lpstr>
      <vt:lpstr>Methodology to be used</vt:lpstr>
      <vt:lpstr>Literature Review </vt:lpstr>
      <vt:lpstr>Literature Review </vt:lpstr>
      <vt:lpstr>Conclusion</vt:lpstr>
      <vt:lpstr>Future Scope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PRANCHAL</cp:lastModifiedBy>
  <cp:revision>503</cp:revision>
  <dcterms:created xsi:type="dcterms:W3CDTF">2019-01-09T10:33:58Z</dcterms:created>
  <dcterms:modified xsi:type="dcterms:W3CDTF">2025-11-05T22:43:52Z</dcterms:modified>
</cp:coreProperties>
</file>